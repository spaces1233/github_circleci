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4099" r:id="rId2"/>
  </p:sldMasterIdLst>
  <p:notesMasterIdLst>
    <p:notesMasterId r:id="rId27"/>
  </p:notesMasterIdLst>
  <p:handoutMasterIdLst>
    <p:handoutMasterId r:id="rId28"/>
  </p:handoutMasterIdLst>
  <p:sldIdLst>
    <p:sldId id="259" r:id="rId3"/>
    <p:sldId id="260" r:id="rId4"/>
    <p:sldId id="261" r:id="rId5"/>
    <p:sldId id="265" r:id="rId6"/>
    <p:sldId id="269" r:id="rId7"/>
    <p:sldId id="272" r:id="rId8"/>
    <p:sldId id="271" r:id="rId9"/>
    <p:sldId id="268" r:id="rId10"/>
    <p:sldId id="273" r:id="rId11"/>
    <p:sldId id="274" r:id="rId12"/>
    <p:sldId id="275" r:id="rId13"/>
    <p:sldId id="276" r:id="rId14"/>
    <p:sldId id="278" r:id="rId15"/>
    <p:sldId id="279" r:id="rId16"/>
    <p:sldId id="280" r:id="rId17"/>
    <p:sldId id="282" r:id="rId18"/>
    <p:sldId id="283" r:id="rId19"/>
    <p:sldId id="284" r:id="rId20"/>
    <p:sldId id="285" r:id="rId21"/>
    <p:sldId id="266" r:id="rId22"/>
    <p:sldId id="286" r:id="rId23"/>
    <p:sldId id="267" r:id="rId24"/>
    <p:sldId id="262" r:id="rId25"/>
    <p:sldId id="288" r:id="rId26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D98F17-E35B-3EC3-2D03-47B6BD4DD4EE}" v="107" dt="2024-11-21T14:26:10.754"/>
    <p1510:client id="{696F6C4F-F6ED-B8A3-B69B-19BCF33F513A}" v="130" dt="2024-11-21T16:29:05.982"/>
    <p1510:client id="{90EE670B-054F-14D9-91CD-5A1299017746}" v="447" dt="2024-11-19T22:44:39.850"/>
    <p1510:client id="{C5511E60-FAA2-4A65-A89A-C2A9677894AA}" v="115" dt="2024-11-21T15:02:56.360"/>
    <p1510:client id="{CBD63ECD-1E20-22B5-8577-51CAB1DBE580}" v="821" dt="2024-11-21T14:09:07.1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82" autoAdjust="0"/>
    <p:restoredTop sz="77893" autoAdjust="0"/>
  </p:normalViewPr>
  <p:slideViewPr>
    <p:cSldViewPr>
      <p:cViewPr varScale="1">
        <p:scale>
          <a:sx n="82" d="100"/>
          <a:sy n="82" d="100"/>
        </p:scale>
        <p:origin x="135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04" tIns="47352" rIns="94704" bIns="47352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04" tIns="47352" rIns="94704" bIns="47352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04" tIns="47352" rIns="94704" bIns="47352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390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704" tIns="47352" rIns="94704" bIns="47352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24DA9B94-1FF0-4D30-A1D7-DC7FA1BF3B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t" anchorCtr="0" compatLnSpc="1">
            <a:prstTxWarp prst="textNoShape">
              <a:avLst/>
            </a:prstTxWarp>
          </a:bodyPr>
          <a:lstStyle>
            <a:lvl1pPr defTabSz="966774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t" anchorCtr="0" compatLnSpc="1">
            <a:prstTxWarp prst="textNoShape">
              <a:avLst/>
            </a:prstTxWarp>
          </a:bodyPr>
          <a:lstStyle>
            <a:lvl1pPr algn="r" defTabSz="966774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9300"/>
            <a:ext cx="585470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b" anchorCtr="0" compatLnSpc="1">
            <a:prstTxWarp prst="textNoShape">
              <a:avLst/>
            </a:prstTxWarp>
          </a:bodyPr>
          <a:lstStyle>
            <a:lvl1pPr defTabSz="966774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56" tIns="48328" rIns="96656" bIns="48328" numCol="1" anchor="b" anchorCtr="0" compatLnSpc="1">
            <a:prstTxWarp prst="textNoShape">
              <a:avLst/>
            </a:prstTxWarp>
          </a:bodyPr>
          <a:lstStyle>
            <a:lvl1pPr algn="r" defTabSz="966774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4F44EAF3-3EC6-4DD8-99FA-98A4BA766C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65200"/>
            <a:fld id="{FFD5F2D6-A6D2-4223-AA4D-70FEA63A9A49}" type="slidenum">
              <a:rPr lang="en-US" smtClean="0"/>
              <a:pPr defTabSz="965200"/>
              <a:t>1</a:t>
            </a:fld>
            <a:endParaRPr lang="en-US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82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445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952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36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719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80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342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149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5689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5598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943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328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566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5983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44EAF3-3EC6-4DD8-99FA-98A4BA766C23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286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1844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445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DBD31C90-C29F-40CC-8546-3DCC13C8DC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196DE4-C91C-46FE-96F4-4D8414AA86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662" y="1214422"/>
            <a:ext cx="4064026" cy="49180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0628" y="1214422"/>
            <a:ext cx="3954460" cy="491809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FEFDC-F6FC-45B5-B090-A2DBBDE795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xfrm>
            <a:off x="1258888" y="6243638"/>
            <a:ext cx="5294312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February 9, 2009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328C9E-7602-4CE5-B465-F95D14F014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DC38F3-DF6C-4ED1-A928-9542F23CEF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05D3A2A5-9F9B-46DD-BD4A-5F18DB6CFCA9}" type="datetimeFigureOut">
              <a:rPr lang="en-CA" smtClean="0">
                <a:solidFill>
                  <a:prstClr val="black">
                    <a:tint val="75000"/>
                  </a:prstClr>
                </a:solidFill>
                <a:latin typeface="Trebuchet M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2024-11-21</a:t>
            </a:fld>
            <a:endParaRPr lang="en-CA">
              <a:solidFill>
                <a:prstClr val="black">
                  <a:tint val="75000"/>
                </a:prstClr>
              </a:solidFill>
              <a:latin typeface="Trebuchet M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CA">
              <a:solidFill>
                <a:prstClr val="black">
                  <a:tint val="75000"/>
                </a:prstClr>
              </a:solidFill>
              <a:latin typeface="Trebuchet M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fld id="{80F7A13E-8366-49F5-A77A-CBA460F81B1A}" type="slidenum">
              <a:rPr lang="en-CA" smtClean="0">
                <a:solidFill>
                  <a:srgbClr val="90C226"/>
                </a:solidFill>
                <a:latin typeface="Trebuchet MS"/>
              </a:rPr>
              <a:pPr defTabSz="685800" eaLnBrk="1" fontAlgn="auto" hangingPunct="1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CA">
              <a:solidFill>
                <a:srgbClr val="90C226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109484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ChangeArrowheads="1"/>
          </p:cNvSpPr>
          <p:nvPr/>
        </p:nvSpPr>
        <p:spPr bwMode="ltGray">
          <a:xfrm>
            <a:off x="500063" y="2857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17412" name="Rectangle 4"/>
          <p:cNvSpPr>
            <a:spLocks noChangeArrowheads="1"/>
          </p:cNvSpPr>
          <p:nvPr/>
        </p:nvSpPr>
        <p:spPr bwMode="ltGray">
          <a:xfrm>
            <a:off x="642938" y="642938"/>
            <a:ext cx="422275" cy="474662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17414" name="Rectangle 6"/>
          <p:cNvSpPr>
            <a:spLocks noChangeArrowheads="1"/>
          </p:cNvSpPr>
          <p:nvPr/>
        </p:nvSpPr>
        <p:spPr bwMode="ltGray">
          <a:xfrm>
            <a:off x="142875" y="5715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gray">
          <a:xfrm>
            <a:off x="785813" y="214313"/>
            <a:ext cx="31750" cy="1052512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gray">
          <a:xfrm>
            <a:off x="571500" y="9286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kumimoji="1" lang="en-US" sz="2400"/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1563" y="1143000"/>
            <a:ext cx="7883525" cy="4989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421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AA4AC70-2414-43E2-8EEC-6DF1CB9117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7" r:id="rId1"/>
    <p:sldLayoutId id="2147484079" r:id="rId2"/>
    <p:sldLayoutId id="2147484081" r:id="rId3"/>
    <p:sldLayoutId id="2147484083" r:id="rId4"/>
    <p:sldLayoutId id="2147484098" r:id="rId5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000" i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9144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609600"/>
            <a:ext cx="6447501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2160590"/>
            <a:ext cx="6447501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6041363"/>
            <a:ext cx="6839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D3A2A5-9F9B-46DD-BD4A-5F18DB6CFCA9}" type="datetimeFigureOut">
              <a:rPr lang="en-CA" smtClean="0"/>
              <a:t>2024-11-21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6041363"/>
            <a:ext cx="4723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6041363"/>
            <a:ext cx="5125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80F7A13E-8366-49F5-A77A-CBA460F81B1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41532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0" r:id="rId1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ircleci.com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paces1233/GitHub_CircleCI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app.circleci.com/organization/circleci/MnA9UhYF8jBfCEzuD5D9KW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82A8B01-F77C-4DA0-AD10-D90938D6C87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42910" y="642918"/>
            <a:ext cx="7380289" cy="5786478"/>
          </a:xfrm>
        </p:spPr>
        <p:txBody>
          <a:bodyPr/>
          <a:lstStyle/>
          <a:p>
            <a:pPr algn="ctr" eaLnBrk="1" hangingPunct="1"/>
            <a:r>
              <a:rPr lang="en-US" dirty="0"/>
              <a:t> </a:t>
            </a:r>
            <a:r>
              <a:rPr lang="en-US" sz="3200" dirty="0"/>
              <a:t>COMP 311: Software Testing and Quality Assurance</a:t>
            </a:r>
            <a:br>
              <a:rPr lang="en-US" sz="3200" dirty="0">
                <a:ea typeface="Tahoma"/>
                <a:cs typeface="Tahoma"/>
              </a:rPr>
            </a:br>
            <a:br>
              <a:rPr lang="en-US" sz="3200" dirty="0"/>
            </a:br>
            <a:r>
              <a:rPr lang="en-US" sz="3200">
                <a:solidFill>
                  <a:schemeClr val="bg2"/>
                </a:solidFill>
              </a:rPr>
              <a:t>GitHub + CircleCI</a:t>
            </a:r>
            <a:r>
              <a:rPr lang="en-US"/>
              <a:t> </a:t>
            </a:r>
            <a:br>
              <a:rPr lang="en-US" dirty="0">
                <a:ea typeface="Tahoma"/>
                <a:cs typeface="Tahoma"/>
              </a:rPr>
            </a:br>
            <a:br>
              <a:rPr lang="en-US" dirty="0"/>
            </a:br>
            <a:r>
              <a:rPr lang="en-US" sz="3200">
                <a:solidFill>
                  <a:schemeClr val="tx1"/>
                </a:solidFill>
              </a:rPr>
              <a:t>Presentation for</a:t>
            </a:r>
            <a:br>
              <a:rPr lang="en-US" dirty="0"/>
            </a:br>
            <a:r>
              <a:rPr lang="en-US" sz="3000" dirty="0"/>
              <a:t>Test tools assignment</a:t>
            </a:r>
            <a:br>
              <a:rPr lang="en-US" sz="3000" dirty="0"/>
            </a:br>
            <a:r>
              <a:rPr lang="en-US" sz="3000" dirty="0"/>
              <a:t>by</a:t>
            </a:r>
            <a:br>
              <a:rPr lang="en-US" sz="3000" dirty="0"/>
            </a:br>
            <a:r>
              <a:rPr lang="en-US" sz="3000" dirty="0"/>
              <a:t>Che Shing Winson Li</a:t>
            </a:r>
            <a:br>
              <a:rPr lang="en-US" sz="3000" dirty="0">
                <a:ea typeface="Tahoma"/>
                <a:cs typeface="Tahoma"/>
              </a:rPr>
            </a:br>
            <a:r>
              <a:rPr lang="en-US" sz="3000" dirty="0">
                <a:ea typeface="Tahoma"/>
                <a:cs typeface="Tahoma"/>
              </a:rPr>
              <a:t>Yik Hong To</a:t>
            </a:r>
          </a:p>
          <a:p>
            <a:pPr algn="ctr"/>
            <a:r>
              <a:rPr lang="en-US" sz="3000" dirty="0">
                <a:ea typeface="Tahoma"/>
                <a:cs typeface="Tahoma"/>
              </a:rPr>
              <a:t>Ho Ting Edmund Tsoi</a:t>
            </a: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GitHub + </a:t>
            </a:r>
            <a:r>
              <a:rPr lang="en-US" dirty="0" err="1"/>
              <a:t>CircleCI</a:t>
            </a:r>
            <a:r>
              <a:rPr lang="en-US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290" y="1143000"/>
            <a:ext cx="7814253" cy="5739967"/>
          </a:xfrm>
        </p:spPr>
        <p:txBody>
          <a:bodyPr/>
          <a:lstStyle/>
          <a:p>
            <a:pPr>
              <a:spcBef>
                <a:spcPts val="20"/>
              </a:spcBef>
            </a:pPr>
            <a:r>
              <a:rPr lang="en-US" sz="2400" dirty="0"/>
              <a:t>GitHub:</a:t>
            </a:r>
          </a:p>
          <a:p>
            <a:pPr lvl="1"/>
            <a:r>
              <a:rPr lang="en-US" sz="2000" dirty="0">
                <a:ea typeface="+mn-lt"/>
                <a:cs typeface="+mn-lt"/>
              </a:rPr>
              <a:t>A platform for version control, code hosting, and collaboration.</a:t>
            </a:r>
            <a:endParaRPr lang="en-US" sz="2000" dirty="0">
              <a:ea typeface="Tahoma"/>
              <a:cs typeface="Tahoma"/>
            </a:endParaRPr>
          </a:p>
          <a:p>
            <a:pPr lvl="1"/>
            <a:r>
              <a:rPr lang="en-US" sz="2000" dirty="0">
                <a:ea typeface="+mn-lt"/>
                <a:cs typeface="+mn-lt"/>
              </a:rPr>
              <a:t>Key features: repository hosting, branching, pull requests, issue tracking.</a:t>
            </a:r>
            <a:endParaRPr lang="en-US" sz="2000" dirty="0">
              <a:ea typeface="Tahoma"/>
              <a:cs typeface="Tahoma"/>
            </a:endParaRPr>
          </a:p>
          <a:p>
            <a:pPr>
              <a:spcBef>
                <a:spcPts val="20"/>
              </a:spcBef>
              <a:buClr>
                <a:srgbClr val="3333CC"/>
              </a:buClr>
            </a:pPr>
            <a:r>
              <a:rPr lang="en-US" sz="2400" dirty="0" err="1"/>
              <a:t>CircleCI</a:t>
            </a:r>
            <a:r>
              <a:rPr lang="en-US" sz="2400" dirty="0"/>
              <a:t>:</a:t>
            </a:r>
            <a:endParaRPr lang="en-US" sz="2400" dirty="0">
              <a:ea typeface="Tahoma"/>
              <a:cs typeface="Tahoma"/>
            </a:endParaRPr>
          </a:p>
          <a:p>
            <a:pPr lvl="1"/>
            <a:r>
              <a:rPr lang="en-US" sz="2000" dirty="0">
                <a:ea typeface="+mn-lt"/>
                <a:cs typeface="+mn-lt"/>
              </a:rPr>
              <a:t>A CI/CD tool that automates testing, builds, and deployment for GitHub-hosted projects.</a:t>
            </a:r>
          </a:p>
          <a:p>
            <a:pPr lvl="1"/>
            <a:r>
              <a:rPr lang="en-US" sz="2000" dirty="0">
                <a:ea typeface="+mn-lt"/>
                <a:cs typeface="+mn-lt"/>
              </a:rPr>
              <a:t>Configured using .</a:t>
            </a:r>
            <a:r>
              <a:rPr lang="en-US" sz="2000" dirty="0" err="1">
                <a:ea typeface="+mn-lt"/>
                <a:cs typeface="+mn-lt"/>
              </a:rPr>
              <a:t>circleci</a:t>
            </a:r>
            <a:r>
              <a:rPr lang="en-US" sz="2000" dirty="0">
                <a:ea typeface="+mn-lt"/>
                <a:cs typeface="+mn-lt"/>
              </a:rPr>
              <a:t>/</a:t>
            </a:r>
            <a:r>
              <a:rPr lang="en-US" sz="2000" dirty="0" err="1">
                <a:ea typeface="+mn-lt"/>
                <a:cs typeface="+mn-lt"/>
              </a:rPr>
              <a:t>config.yml</a:t>
            </a:r>
            <a:r>
              <a:rPr lang="en-US" sz="2000" dirty="0">
                <a:ea typeface="+mn-lt"/>
                <a:cs typeface="+mn-lt"/>
              </a:rPr>
              <a:t> to define jobs, workflows, and steps.</a:t>
            </a:r>
            <a:endParaRPr lang="en-US" dirty="0"/>
          </a:p>
          <a:p>
            <a:r>
              <a:rPr lang="en-US" sz="2400" dirty="0"/>
              <a:t>Purpose: </a:t>
            </a:r>
            <a:endParaRPr lang="en-US" sz="2400" dirty="0">
              <a:ea typeface="Tahoma"/>
              <a:cs typeface="Tahoma"/>
            </a:endParaRPr>
          </a:p>
          <a:p>
            <a:pPr lvl="1"/>
            <a:r>
              <a:rPr lang="en-US" sz="2000" dirty="0"/>
              <a:t>Streamline CI/CD pipelines by automatically testing and integrating changes in GitHub-hosted projects.</a:t>
            </a:r>
            <a:endParaRPr lang="en-US" sz="2000" dirty="0">
              <a:ea typeface="Tahoma"/>
              <a:cs typeface="Tahoma"/>
            </a:endParaRPr>
          </a:p>
          <a:p>
            <a:pPr>
              <a:buClr>
                <a:srgbClr val="3333CC"/>
              </a:buClr>
            </a:pPr>
            <a:r>
              <a:rPr lang="en-US" sz="2400" dirty="0">
                <a:ea typeface="+mn-lt"/>
                <a:cs typeface="+mn-lt"/>
              </a:rPr>
              <a:t>Who uses it</a:t>
            </a:r>
            <a:r>
              <a:rPr lang="en-US" sz="2400" dirty="0">
                <a:ea typeface="Tahoma"/>
                <a:cs typeface="Tahoma"/>
              </a:rPr>
              <a:t>:</a:t>
            </a:r>
          </a:p>
          <a:p>
            <a:pPr lvl="1"/>
            <a:r>
              <a:rPr lang="en-US" sz="2000" dirty="0">
                <a:ea typeface="Tahoma"/>
                <a:cs typeface="Tahoma"/>
              </a:rPr>
              <a:t>Developers, testers, DevOps engineers.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Acquire GitHub + </a:t>
            </a:r>
            <a:r>
              <a:rPr lang="en-US" dirty="0" err="1"/>
              <a:t>CircleCI</a:t>
            </a:r>
            <a:endParaRPr lang="en-US" dirty="0">
              <a:ea typeface="Tahoma"/>
              <a:cs typeface="Tahom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4695" y="1143000"/>
            <a:ext cx="7840393" cy="5521475"/>
          </a:xfrm>
        </p:spPr>
        <p:txBody>
          <a:bodyPr/>
          <a:lstStyle/>
          <a:p>
            <a:r>
              <a:rPr lang="en-US" dirty="0">
                <a:solidFill>
                  <a:srgbClr val="000000"/>
                </a:solidFill>
              </a:rPr>
              <a:t>GitHub URL: </a:t>
            </a:r>
            <a:r>
              <a:rPr lang="en-US" sz="2400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http://github.com/</a:t>
            </a:r>
            <a:endParaRPr lang="en-US" sz="2400" dirty="0">
              <a:solidFill>
                <a:schemeClr val="tx2"/>
              </a:solidFill>
            </a:endParaRPr>
          </a:p>
          <a:p>
            <a:r>
              <a:rPr lang="en-US" dirty="0" err="1">
                <a:solidFill>
                  <a:srgbClr val="000000"/>
                </a:solidFill>
              </a:rPr>
              <a:t>CircleCI</a:t>
            </a:r>
            <a:r>
              <a:rPr lang="en-US" dirty="0">
                <a:solidFill>
                  <a:srgbClr val="000000"/>
                </a:solidFill>
              </a:rPr>
              <a:t> URL: </a:t>
            </a:r>
            <a:r>
              <a:rPr lang="en-US" sz="2400" dirty="0">
                <a:solidFill>
                  <a:schemeClr val="tx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https://circleci.com/</a:t>
            </a:r>
            <a:endParaRPr lang="en-US" sz="2400">
              <a:solidFill>
                <a:schemeClr val="tx2"/>
              </a:solidFill>
            </a:endParaRPr>
          </a:p>
          <a:p>
            <a:r>
              <a:rPr lang="en-US" dirty="0"/>
              <a:t>License:</a:t>
            </a:r>
            <a:endParaRPr lang="en-US" dirty="0">
              <a:ea typeface="Tahoma"/>
              <a:cs typeface="Tahoma"/>
            </a:endParaRPr>
          </a:p>
          <a:p>
            <a:pPr lvl="1"/>
            <a:r>
              <a:rPr lang="en-US" dirty="0"/>
              <a:t>GitHub: Free for public repos; paid plans for private repos.</a:t>
            </a:r>
            <a:endParaRPr lang="en-US" dirty="0">
              <a:ea typeface="Tahoma"/>
              <a:cs typeface="Tahoma"/>
            </a:endParaRPr>
          </a:p>
          <a:p>
            <a:pPr lvl="1"/>
            <a:r>
              <a:rPr lang="en-US" dirty="0" err="1"/>
              <a:t>CircleCI</a:t>
            </a:r>
            <a:r>
              <a:rPr lang="en-US" dirty="0"/>
              <a:t>: Free for open-source projects; paid plans for private use.</a:t>
            </a:r>
            <a:endParaRPr lang="en-US" dirty="0">
              <a:ea typeface="Tahoma"/>
              <a:cs typeface="Tahoma"/>
            </a:endParaRPr>
          </a:p>
          <a:p>
            <a:r>
              <a:rPr lang="en-US" dirty="0"/>
              <a:t>Requirements:</a:t>
            </a:r>
            <a:endParaRPr lang="en-US" dirty="0">
              <a:ea typeface="Tahoma"/>
              <a:cs typeface="Tahoma"/>
            </a:endParaRPr>
          </a:p>
          <a:p>
            <a:pPr lvl="1"/>
            <a:r>
              <a:rPr lang="en-US" dirty="0"/>
              <a:t>Git installed locally, GitHub account, </a:t>
            </a:r>
            <a:r>
              <a:rPr lang="en-US" dirty="0" err="1"/>
              <a:t>CircleCI</a:t>
            </a:r>
            <a:r>
              <a:rPr lang="en-US" dirty="0"/>
              <a:t> account, and integration enabled.</a:t>
            </a:r>
            <a:endParaRPr lang="en-US" dirty="0">
              <a:ea typeface="Tahoma"/>
              <a:cs typeface="Tahom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GitHub + </a:t>
            </a:r>
            <a:r>
              <a:rPr lang="en-US" dirty="0" err="1"/>
              <a:t>CircleCI</a:t>
            </a:r>
            <a:r>
              <a:rPr lang="en-US" dirty="0"/>
              <a:t> work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114695" y="1143000"/>
            <a:ext cx="7840393" cy="5694003"/>
          </a:xfrm>
        </p:spPr>
        <p:txBody>
          <a:bodyPr/>
          <a:lstStyle/>
          <a:p>
            <a:r>
              <a:rPr lang="en-US" dirty="0"/>
              <a:t>GitHub:</a:t>
            </a:r>
          </a:p>
          <a:p>
            <a:pPr lvl="1"/>
            <a:r>
              <a:rPr lang="en-US" dirty="0"/>
              <a:t>Repository hosting, branching, pull requests.</a:t>
            </a:r>
            <a:endParaRPr lang="en-US" dirty="0">
              <a:ea typeface="Tahoma"/>
              <a:cs typeface="Tahoma"/>
            </a:endParaRPr>
          </a:p>
          <a:p>
            <a:pPr lvl="1"/>
            <a:r>
              <a:rPr lang="en-US" dirty="0"/>
              <a:t>Collaboration with issues and discussions.</a:t>
            </a:r>
            <a:endParaRPr lang="en-US" dirty="0">
              <a:ea typeface="Tahoma"/>
              <a:cs typeface="Tahoma"/>
            </a:endParaRPr>
          </a:p>
          <a:p>
            <a:r>
              <a:rPr lang="en-US" dirty="0" err="1"/>
              <a:t>CircleCI</a:t>
            </a:r>
            <a:r>
              <a:rPr lang="en-US" dirty="0"/>
              <a:t>:</a:t>
            </a:r>
            <a:endParaRPr lang="en-US" dirty="0">
              <a:ea typeface="Tahoma"/>
              <a:cs typeface="Tahoma"/>
            </a:endParaRPr>
          </a:p>
          <a:p>
            <a:pPr lvl="1"/>
            <a:r>
              <a:rPr lang="en-US" dirty="0"/>
              <a:t>Automates testing and deployment.</a:t>
            </a:r>
            <a:endParaRPr lang="en-US" dirty="0">
              <a:ea typeface="Tahoma"/>
              <a:cs typeface="Tahoma"/>
            </a:endParaRPr>
          </a:p>
          <a:p>
            <a:pPr lvl="1"/>
            <a:r>
              <a:rPr lang="en-US" i="0" dirty="0"/>
              <a:t>Configured using </a:t>
            </a:r>
            <a:r>
              <a:rPr lang="en-US" dirty="0"/>
              <a:t>.</a:t>
            </a:r>
            <a:r>
              <a:rPr lang="en-US" dirty="0" err="1"/>
              <a:t>circleci</a:t>
            </a:r>
            <a:r>
              <a:rPr lang="en-US" dirty="0"/>
              <a:t>/</a:t>
            </a:r>
            <a:r>
              <a:rPr lang="en-US" dirty="0" err="1"/>
              <a:t>config.yml</a:t>
            </a:r>
            <a:r>
              <a:rPr lang="en-US" dirty="0"/>
              <a:t>.</a:t>
            </a:r>
            <a:endParaRPr lang="en-US" sz="2000" i="0" dirty="0">
              <a:ea typeface="Tahoma"/>
              <a:cs typeface="Tahoma"/>
            </a:endParaRPr>
          </a:p>
          <a:p>
            <a:pPr lvl="1"/>
            <a:r>
              <a:rPr lang="en-US" i="0" dirty="0"/>
              <a:t>Supports multiple languages and environments.</a:t>
            </a:r>
            <a:endParaRPr lang="en-US" sz="2000" i="0" dirty="0">
              <a:ea typeface="Tahoma"/>
              <a:cs typeface="Tahoma"/>
            </a:endParaRPr>
          </a:p>
          <a:p>
            <a:r>
              <a:rPr lang="en-US" dirty="0"/>
              <a:t>Strengths</a:t>
            </a:r>
            <a:endParaRPr lang="en-US" dirty="0">
              <a:ea typeface="Tahoma"/>
              <a:cs typeface="Tahoma"/>
            </a:endParaRPr>
          </a:p>
          <a:p>
            <a:pPr lvl="1"/>
            <a:r>
              <a:rPr lang="en-US" dirty="0"/>
              <a:t>Free for open-source, robust community support.</a:t>
            </a:r>
            <a:endParaRPr lang="en-US" dirty="0">
              <a:ea typeface="Tahoma"/>
              <a:cs typeface="Tahoma"/>
            </a:endParaRPr>
          </a:p>
          <a:p>
            <a:pPr>
              <a:buClr>
                <a:srgbClr val="3333CC"/>
              </a:buClr>
            </a:pPr>
            <a:r>
              <a:rPr lang="en-US" dirty="0">
                <a:ea typeface="+mn-lt"/>
                <a:cs typeface="+mn-lt"/>
              </a:rPr>
              <a:t>Weaknesses</a:t>
            </a:r>
          </a:p>
          <a:p>
            <a:pPr lvl="1"/>
            <a:r>
              <a:rPr lang="en-US" dirty="0">
                <a:ea typeface="Tahoma"/>
                <a:cs typeface="Tahoma"/>
              </a:rPr>
              <a:t>Paid tiers for private repositories, limited parallel builds on free plans.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993062" cy="642937"/>
          </a:xfrm>
        </p:spPr>
        <p:txBody>
          <a:bodyPr/>
          <a:lstStyle/>
          <a:p>
            <a:r>
              <a:rPr lang="en-US" dirty="0">
                <a:ea typeface="Tahoma"/>
                <a:cs typeface="Tahoma"/>
              </a:rPr>
              <a:t>Integration and Workflow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3" name="Picture 2" descr="A diagram of a software development process&#10;&#10;Description automatically generated">
            <a:extLst>
              <a:ext uri="{FF2B5EF4-FFF2-40B4-BE49-F238E27FC236}">
                <a16:creationId xmlns:a16="http://schemas.microsoft.com/office/drawing/2014/main" id="{02FBAD7D-2168-233C-1A11-9AAA12A33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277" y="2012189"/>
            <a:ext cx="8799535" cy="36301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112" y="1416208"/>
            <a:ext cx="7708938" cy="5068765"/>
          </a:xfrm>
        </p:spPr>
        <p:txBody>
          <a:bodyPr/>
          <a:lstStyle/>
          <a:p>
            <a:r>
              <a:rPr lang="en-US" sz="2400" dirty="0">
                <a:ea typeface="+mn-lt"/>
                <a:cs typeface="+mn-lt"/>
              </a:rPr>
              <a:t>GitHub</a:t>
            </a:r>
            <a:r>
              <a:rPr lang="en-US" sz="2400" dirty="0">
                <a:latin typeface="Tahoma"/>
                <a:ea typeface="Tahoma"/>
                <a:cs typeface="Tahoma"/>
              </a:rPr>
              <a:t>:</a:t>
            </a:r>
            <a:endParaRPr lang="en-US" sz="2400" dirty="0">
              <a:ea typeface="Tahoma"/>
              <a:cs typeface="Tahoma"/>
            </a:endParaRPr>
          </a:p>
          <a:p>
            <a:pPr lvl="1">
              <a:buClr>
                <a:srgbClr val="FF0000"/>
              </a:buClr>
            </a:pPr>
            <a:r>
              <a:rPr lang="en-US" sz="2000" dirty="0">
                <a:ea typeface="+mn-lt"/>
                <a:cs typeface="+mn-lt"/>
              </a:rPr>
              <a:t>Create a GitHub repository for the project.</a:t>
            </a:r>
          </a:p>
          <a:p>
            <a:pPr marL="457200" lvl="1" indent="0">
              <a:buClr>
                <a:srgbClr val="FF0000"/>
              </a:buClr>
              <a:buNone/>
            </a:pPr>
            <a:endParaRPr lang="en-US" sz="2000" dirty="0">
              <a:ea typeface="+mn-lt"/>
              <a:cs typeface="+mn-lt"/>
            </a:endParaRPr>
          </a:p>
          <a:p>
            <a:pPr>
              <a:buClr>
                <a:srgbClr val="3333CC"/>
              </a:buClr>
            </a:pPr>
            <a:r>
              <a:rPr lang="en-US" sz="2400" dirty="0" err="1">
                <a:ea typeface="+mn-lt"/>
                <a:cs typeface="+mn-lt"/>
              </a:rPr>
              <a:t>CircleCI</a:t>
            </a:r>
            <a:r>
              <a:rPr lang="en-US" sz="2400" dirty="0">
                <a:ea typeface="+mn-lt"/>
                <a:cs typeface="+mn-lt"/>
              </a:rPr>
              <a:t>:</a:t>
            </a:r>
            <a:endParaRPr lang="en-US" dirty="0"/>
          </a:p>
          <a:p>
            <a:pPr marL="742950" indent="-285750">
              <a:buClr>
                <a:srgbClr val="FF0000"/>
              </a:buClr>
              <a:buSzPct val="55000"/>
            </a:pPr>
            <a:r>
              <a:rPr lang="en-US" sz="2000" dirty="0">
                <a:ea typeface="+mn-lt"/>
                <a:cs typeface="+mn-lt"/>
              </a:rPr>
              <a:t>Sign up at </a:t>
            </a:r>
            <a:r>
              <a:rPr lang="en-US" sz="2000" dirty="0" err="1">
                <a:ea typeface="+mn-lt"/>
                <a:cs typeface="+mn-lt"/>
              </a:rPr>
              <a:t>CircleCI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>
              <a:ea typeface="Tahoma"/>
              <a:cs typeface="Tahoma"/>
            </a:endParaRPr>
          </a:p>
          <a:p>
            <a:pPr lvl="1"/>
            <a:r>
              <a:rPr lang="en-US" sz="2000" dirty="0">
                <a:ea typeface="+mn-lt"/>
                <a:cs typeface="+mn-lt"/>
              </a:rPr>
              <a:t>Enable repository integration in </a:t>
            </a:r>
            <a:r>
              <a:rPr lang="en-US" sz="2000" dirty="0" err="1">
                <a:latin typeface="Tahoma"/>
                <a:ea typeface="Tahoma"/>
                <a:cs typeface="Tahoma"/>
              </a:rPr>
              <a:t>CircleCI</a:t>
            </a:r>
            <a:r>
              <a:rPr lang="en-US" sz="2000" dirty="0">
                <a:ea typeface="+mn-lt"/>
                <a:cs typeface="+mn-lt"/>
              </a:rPr>
              <a:t>. </a:t>
            </a:r>
            <a:r>
              <a:rPr lang="en-US" sz="2000" i="0" dirty="0">
                <a:ea typeface="+mn-lt"/>
                <a:cs typeface="+mn-lt"/>
              </a:rPr>
              <a:t>Enter the project details and then set up a pipeline to choose your GitHub repository.</a:t>
            </a:r>
          </a:p>
          <a:p>
            <a:pPr lvl="1"/>
            <a:r>
              <a:rPr lang="en-US" sz="2000" dirty="0">
                <a:ea typeface="+mn-lt"/>
                <a:cs typeface="+mn-lt"/>
              </a:rPr>
              <a:t>Create a </a:t>
            </a:r>
            <a:r>
              <a:rPr lang="en-US" sz="2000" dirty="0">
                <a:latin typeface="Tahoma"/>
                <a:ea typeface="Tahoma"/>
                <a:cs typeface="Tahoma"/>
              </a:rPr>
              <a:t>.</a:t>
            </a:r>
            <a:r>
              <a:rPr lang="en-US" sz="2000" dirty="0" err="1">
                <a:ea typeface="+mn-lt"/>
                <a:cs typeface="+mn-lt"/>
              </a:rPr>
              <a:t>circleci</a:t>
            </a:r>
            <a:r>
              <a:rPr lang="en-US" sz="2000" dirty="0">
                <a:ea typeface="+mn-lt"/>
                <a:cs typeface="+mn-lt"/>
              </a:rPr>
              <a:t>/</a:t>
            </a:r>
            <a:r>
              <a:rPr lang="en-US" sz="2000" dirty="0" err="1">
                <a:ea typeface="+mn-lt"/>
                <a:cs typeface="+mn-lt"/>
              </a:rPr>
              <a:t>config</a:t>
            </a:r>
            <a:r>
              <a:rPr lang="en-US" sz="2000" dirty="0" err="1">
                <a:latin typeface="Tahoma"/>
                <a:ea typeface="Tahoma"/>
                <a:cs typeface="Tahoma"/>
              </a:rPr>
              <a:t>.yml</a:t>
            </a:r>
            <a:r>
              <a:rPr lang="en-US" sz="2000" dirty="0">
                <a:latin typeface="Tahoma"/>
                <a:ea typeface="Tahoma"/>
                <a:cs typeface="Tahoma"/>
              </a:rPr>
              <a:t> </a:t>
            </a:r>
            <a:r>
              <a:rPr lang="en-US" sz="2000" dirty="0">
                <a:ea typeface="+mn-lt"/>
                <a:cs typeface="+mn-lt"/>
              </a:rPr>
              <a:t>file in the repository for configuration. This file will contain all the configuration for running tests and deployments.</a:t>
            </a:r>
            <a:endParaRPr lang="en-US" sz="2000" dirty="0">
              <a:ea typeface="Tahoma"/>
              <a:cs typeface="Tahoma"/>
            </a:endParaRPr>
          </a:p>
          <a:p>
            <a:pPr lvl="1">
              <a:buClr>
                <a:srgbClr val="FF0000"/>
              </a:buClr>
              <a:buNone/>
            </a:pPr>
            <a:endParaRPr lang="en-US" sz="2000" dirty="0">
              <a:ea typeface="+mn-lt"/>
              <a:cs typeface="+mn-lt"/>
            </a:endParaRPr>
          </a:p>
          <a:p>
            <a:pPr marL="457200" lvl="1" indent="0">
              <a:buNone/>
            </a:pPr>
            <a:endParaRPr lang="en-US" sz="2000" dirty="0">
              <a:ea typeface="Tahoma"/>
              <a:cs typeface="Tahoma"/>
            </a:endParaRPr>
          </a:p>
          <a:p>
            <a:pPr>
              <a:buClr>
                <a:srgbClr val="3333CC"/>
              </a:buClr>
            </a:pPr>
            <a:endParaRPr lang="en-US" sz="2400" dirty="0">
              <a:ea typeface="Tahoma"/>
              <a:cs typeface="Tahoma"/>
            </a:endParaRPr>
          </a:p>
          <a:p>
            <a:pPr lvl="1">
              <a:buClr>
                <a:srgbClr val="FF0000"/>
              </a:buClr>
            </a:pPr>
            <a:endParaRPr lang="en-US" sz="1200" dirty="0">
              <a:ea typeface="Tahoma"/>
              <a:cs typeface="Tahoma"/>
            </a:endParaRPr>
          </a:p>
          <a:p>
            <a:endParaRPr lang="en-US" dirty="0">
              <a:ea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9F38FA3-60E6-1622-735E-4424B918E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212" y="260648"/>
            <a:ext cx="7708938" cy="642937"/>
          </a:xfrm>
        </p:spPr>
        <p:txBody>
          <a:bodyPr/>
          <a:lstStyle/>
          <a:p>
            <a:r>
              <a:rPr lang="en-US" sz="3600" dirty="0"/>
              <a:t>Installation and overview of use (1)</a:t>
            </a:r>
          </a:p>
        </p:txBody>
      </p:sp>
    </p:spTree>
    <p:extLst>
      <p:ext uri="{BB962C8B-B14F-4D97-AF65-F5344CB8AC3E}">
        <p14:creationId xmlns:p14="http://schemas.microsoft.com/office/powerpoint/2010/main" val="3207662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212" y="260648"/>
            <a:ext cx="7708938" cy="642937"/>
          </a:xfrm>
        </p:spPr>
        <p:txBody>
          <a:bodyPr/>
          <a:lstStyle/>
          <a:p>
            <a:r>
              <a:rPr lang="en-US" sz="3600" dirty="0"/>
              <a:t>Installation and overview of use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112" y="1416208"/>
            <a:ext cx="7708938" cy="5068765"/>
          </a:xfrm>
        </p:spPr>
        <p:txBody>
          <a:bodyPr/>
          <a:lstStyle/>
          <a:p>
            <a:r>
              <a:rPr lang="en-US" sz="2400" dirty="0">
                <a:ea typeface="+mn-lt"/>
                <a:cs typeface="+mn-lt"/>
              </a:rPr>
              <a:t>Configure </a:t>
            </a:r>
            <a:r>
              <a:rPr lang="en-US" sz="2400" dirty="0" err="1">
                <a:ea typeface="+mn-lt"/>
                <a:cs typeface="+mn-lt"/>
              </a:rPr>
              <a:t>CircleCI</a:t>
            </a:r>
            <a:r>
              <a:rPr lang="en-US" sz="2400" dirty="0">
                <a:ea typeface="+mn-lt"/>
                <a:cs typeface="+mn-lt"/>
              </a:rPr>
              <a:t> for the Project:</a:t>
            </a:r>
            <a:endParaRPr lang="en-US" sz="2400" dirty="0">
              <a:ea typeface="Tahoma"/>
              <a:cs typeface="Tahoma"/>
            </a:endParaRPr>
          </a:p>
          <a:p>
            <a:pPr lvl="1"/>
            <a:r>
              <a:rPr lang="en-US" sz="2000" dirty="0">
                <a:ea typeface="+mn-lt"/>
                <a:cs typeface="+mn-lt"/>
              </a:rPr>
              <a:t>Specify where the test files are located.</a:t>
            </a:r>
            <a:endParaRPr lang="en-US" sz="2000" dirty="0">
              <a:ea typeface="Tahoma"/>
              <a:cs typeface="Tahoma"/>
            </a:endParaRPr>
          </a:p>
          <a:p>
            <a:pPr lvl="1"/>
            <a:r>
              <a:rPr lang="en-US" sz="2000" dirty="0">
                <a:ea typeface="+mn-lt"/>
                <a:cs typeface="+mn-lt"/>
              </a:rPr>
              <a:t>Ensure that the necessary dependencies (e</a:t>
            </a:r>
            <a:r>
              <a:rPr lang="en-US" sz="2000" dirty="0">
                <a:latin typeface="Tahoma"/>
                <a:ea typeface="Tahoma"/>
                <a:cs typeface="Tahoma"/>
              </a:rPr>
              <a:t>.</a:t>
            </a:r>
            <a:r>
              <a:rPr lang="en-US" sz="2000" dirty="0">
                <a:ea typeface="+mn-lt"/>
                <a:cs typeface="+mn-lt"/>
              </a:rPr>
              <a:t>g., </a:t>
            </a:r>
            <a:r>
              <a:rPr lang="en-US" sz="2000" dirty="0" err="1">
                <a:ea typeface="+mn-lt"/>
                <a:cs typeface="+mn-lt"/>
              </a:rPr>
              <a:t>pytest</a:t>
            </a:r>
            <a:r>
              <a:rPr lang="en-US" sz="2000" dirty="0">
                <a:ea typeface="+mn-lt"/>
                <a:cs typeface="+mn-lt"/>
              </a:rPr>
              <a:t>) are installed via the config</a:t>
            </a:r>
            <a:r>
              <a:rPr lang="en-US" sz="2000" dirty="0">
                <a:latin typeface="Tahoma"/>
                <a:ea typeface="Tahoma"/>
                <a:cs typeface="Tahoma"/>
              </a:rPr>
              <a:t> file.</a:t>
            </a:r>
            <a:endParaRPr lang="en-US" sz="2000" dirty="0">
              <a:ea typeface="Tahoma"/>
              <a:cs typeface="Tahoma"/>
            </a:endParaRPr>
          </a:p>
          <a:p>
            <a:pPr lvl="1"/>
            <a:r>
              <a:rPr lang="en-US" sz="2000" dirty="0">
                <a:latin typeface="Tahoma"/>
                <a:ea typeface="Tahoma"/>
                <a:cs typeface="Tahoma"/>
              </a:rPr>
              <a:t>Push the configuration </a:t>
            </a:r>
            <a:r>
              <a:rPr lang="en-US" sz="2000" dirty="0">
                <a:ea typeface="+mn-lt"/>
                <a:cs typeface="+mn-lt"/>
              </a:rPr>
              <a:t>file to the GitHub repository so that </a:t>
            </a:r>
            <a:r>
              <a:rPr lang="en-US" sz="2000" dirty="0" err="1">
                <a:ea typeface="+mn-lt"/>
                <a:cs typeface="+mn-lt"/>
              </a:rPr>
              <a:t>CircleCI</a:t>
            </a:r>
            <a:r>
              <a:rPr lang="en-US" sz="2000" dirty="0">
                <a:ea typeface="+mn-lt"/>
                <a:cs typeface="+mn-lt"/>
              </a:rPr>
              <a:t> can automatically run it on each commit.</a:t>
            </a:r>
          </a:p>
          <a:p>
            <a:pPr marL="457200" lvl="1" indent="0">
              <a:buNone/>
            </a:pPr>
            <a:endParaRPr lang="en-US" sz="2000" dirty="0">
              <a:ea typeface="Tahoma"/>
              <a:cs typeface="Tahoma"/>
            </a:endParaRPr>
          </a:p>
          <a:p>
            <a:pPr>
              <a:buClr>
                <a:srgbClr val="3333CC"/>
              </a:buClr>
            </a:pPr>
            <a:r>
              <a:rPr lang="en-US" sz="2400" dirty="0">
                <a:ea typeface="Tahoma"/>
                <a:cs typeface="Tahoma"/>
              </a:rPr>
              <a:t>Deploy and Run Tests:</a:t>
            </a:r>
            <a:endParaRPr lang="en-US" dirty="0"/>
          </a:p>
          <a:p>
            <a:pPr lvl="1"/>
            <a:r>
              <a:rPr lang="en-US" sz="2000" dirty="0">
                <a:ea typeface="+mn-lt"/>
                <a:cs typeface="+mn-lt"/>
              </a:rPr>
              <a:t>Push your code to GitHub: This will trigger </a:t>
            </a:r>
            <a:r>
              <a:rPr lang="en-US" sz="2000" dirty="0" err="1">
                <a:ea typeface="+mn-lt"/>
                <a:cs typeface="+mn-lt"/>
              </a:rPr>
              <a:t>CircleCI</a:t>
            </a:r>
            <a:r>
              <a:rPr lang="en-US" sz="2000" dirty="0">
                <a:ea typeface="+mn-lt"/>
                <a:cs typeface="+mn-lt"/>
              </a:rPr>
              <a:t> to automatically detect changes and run the test jobs.</a:t>
            </a:r>
            <a:endParaRPr lang="en-US" sz="2000" dirty="0">
              <a:ea typeface="Tahoma"/>
              <a:cs typeface="Tahoma"/>
            </a:endParaRPr>
          </a:p>
          <a:p>
            <a:pPr lvl="1"/>
            <a:r>
              <a:rPr lang="en-US" sz="2000" dirty="0">
                <a:ea typeface="Tahoma"/>
                <a:cs typeface="Tahoma"/>
              </a:rPr>
              <a:t>Monitor the test results on </a:t>
            </a:r>
            <a:r>
              <a:rPr lang="en-US" sz="2000" dirty="0" err="1">
                <a:ea typeface="Tahoma"/>
                <a:cs typeface="Tahoma"/>
              </a:rPr>
              <a:t>CircleCI’s</a:t>
            </a:r>
            <a:r>
              <a:rPr lang="en-US" sz="2000" dirty="0">
                <a:ea typeface="Tahoma"/>
                <a:cs typeface="Tahoma"/>
              </a:rPr>
              <a:t> dashboard, where you can view build statuses, logs, and generated reports.</a:t>
            </a:r>
          </a:p>
          <a:p>
            <a:pPr lvl="1"/>
            <a:endParaRPr lang="en-US" sz="2000" dirty="0">
              <a:ea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14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993062" cy="64293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Demonstration – GitHub Setup</a:t>
            </a:r>
            <a:endParaRPr lang="en-US" dirty="0">
              <a:ea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F6379924-D94B-C743-5640-D31B2EF71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07" y="1556792"/>
            <a:ext cx="8341585" cy="478086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993062" cy="64293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Demonstration – Python Script</a:t>
            </a:r>
            <a:endParaRPr lang="en-US" dirty="0">
              <a:ea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19CF6908-F88C-B837-7ED9-0E4A0B58A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353" y="1462064"/>
            <a:ext cx="8662147" cy="4001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453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993062" cy="64293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Demonstration – Test File</a:t>
            </a:r>
            <a:endParaRPr lang="en-US" dirty="0">
              <a:ea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EE7367-3176-F423-8E59-78BCA53630CB}"/>
              </a:ext>
            </a:extLst>
          </p:cNvPr>
          <p:cNvSpPr txBox="1"/>
          <p:nvPr/>
        </p:nvSpPr>
        <p:spPr>
          <a:xfrm>
            <a:off x="225469" y="1446756"/>
            <a:ext cx="8745254" cy="47914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latin typeface="Tahoma"/>
                <a:ea typeface="Tahoma"/>
                <a:cs typeface="Tahoma"/>
              </a:rPr>
              <a:t>test_main.py:</a:t>
            </a:r>
          </a:p>
          <a:p>
            <a:br>
              <a:rPr lang="en-US" sz="1600" dirty="0">
                <a:latin typeface="Tahoma"/>
                <a:ea typeface="Tahoma"/>
                <a:cs typeface="Tahoma"/>
              </a:rPr>
            </a:br>
            <a:r>
              <a:rPr lang="en-US" sz="1600" dirty="0">
                <a:latin typeface="Tahoma"/>
                <a:ea typeface="Tahoma"/>
                <a:cs typeface="Tahoma"/>
              </a:rPr>
              <a:t>import </a:t>
            </a:r>
            <a:r>
              <a:rPr lang="en-US" sz="1600" dirty="0" err="1">
                <a:latin typeface="Tahoma"/>
                <a:ea typeface="Tahoma"/>
                <a:cs typeface="Tahoma"/>
              </a:rPr>
              <a:t>pytest</a:t>
            </a:r>
            <a:endParaRPr lang="en-US" sz="1600" dirty="0">
              <a:latin typeface="Tahoma"/>
              <a:ea typeface="Tahoma"/>
              <a:cs typeface="Tahoma"/>
            </a:endParaRPr>
          </a:p>
          <a:p>
            <a:r>
              <a:rPr lang="en-US" sz="1600" dirty="0">
                <a:latin typeface="Tahoma"/>
                <a:ea typeface="Tahoma"/>
                <a:cs typeface="Tahoma"/>
              </a:rPr>
              <a:t>from main import </a:t>
            </a:r>
            <a:r>
              <a:rPr lang="en-US" sz="1600" dirty="0" err="1">
                <a:latin typeface="Tahoma"/>
                <a:ea typeface="Tahoma"/>
                <a:cs typeface="Tahoma"/>
              </a:rPr>
              <a:t>add_numbers</a:t>
            </a:r>
            <a:endParaRPr lang="en-US" sz="1600" dirty="0">
              <a:latin typeface="Tahoma"/>
              <a:ea typeface="Tahoma"/>
              <a:cs typeface="Tahoma"/>
            </a:endParaRPr>
          </a:p>
          <a:p>
            <a:endParaRPr lang="en-US" sz="1600" dirty="0">
              <a:ea typeface="Tahoma"/>
              <a:cs typeface="Tahoma"/>
            </a:endParaRPr>
          </a:p>
          <a:p>
            <a:r>
              <a:rPr lang="en-US" sz="1600" dirty="0">
                <a:latin typeface="Tahoma"/>
                <a:ea typeface="Tahoma"/>
                <a:cs typeface="Tahoma"/>
              </a:rPr>
              <a:t>def </a:t>
            </a:r>
            <a:r>
              <a:rPr lang="en-US" sz="1600" dirty="0" err="1">
                <a:latin typeface="Tahoma"/>
                <a:ea typeface="Tahoma"/>
                <a:cs typeface="Tahoma"/>
              </a:rPr>
              <a:t>test_add_numbers</a:t>
            </a:r>
            <a:r>
              <a:rPr lang="en-US" sz="1600" dirty="0">
                <a:latin typeface="Tahoma"/>
                <a:ea typeface="Tahoma"/>
                <a:cs typeface="Tahoma"/>
              </a:rPr>
              <a:t>():</a:t>
            </a:r>
          </a:p>
          <a:p>
            <a:r>
              <a:rPr lang="en-US" sz="1600" dirty="0">
                <a:latin typeface="Tahoma"/>
                <a:ea typeface="Tahoma"/>
                <a:cs typeface="Tahoma"/>
              </a:rPr>
              <a:t>    assert </a:t>
            </a:r>
            <a:r>
              <a:rPr lang="en-US" sz="1600" dirty="0" err="1">
                <a:latin typeface="Tahoma"/>
                <a:ea typeface="Tahoma"/>
                <a:cs typeface="Tahoma"/>
              </a:rPr>
              <a:t>add_numbers</a:t>
            </a:r>
            <a:r>
              <a:rPr lang="en-US" sz="1600" dirty="0">
                <a:latin typeface="Tahoma"/>
                <a:ea typeface="Tahoma"/>
                <a:cs typeface="Tahoma"/>
              </a:rPr>
              <a:t>(2, 3) == 5  # Pass: 2 + 3 = 5</a:t>
            </a:r>
          </a:p>
          <a:p>
            <a:r>
              <a:rPr lang="en-US" sz="1600" dirty="0">
                <a:latin typeface="Tahoma"/>
                <a:ea typeface="Tahoma"/>
                <a:cs typeface="Tahoma"/>
              </a:rPr>
              <a:t>    </a:t>
            </a:r>
            <a:endParaRPr lang="en-US" sz="1600" dirty="0">
              <a:ea typeface="Tahoma"/>
              <a:cs typeface="Tahoma"/>
            </a:endParaRPr>
          </a:p>
          <a:p>
            <a:r>
              <a:rPr lang="en-US" sz="1600" dirty="0">
                <a:latin typeface="Tahoma"/>
                <a:ea typeface="Tahoma"/>
                <a:cs typeface="Tahoma"/>
              </a:rPr>
              <a:t>    assert </a:t>
            </a:r>
            <a:r>
              <a:rPr lang="en-US" sz="1600" dirty="0" err="1">
                <a:latin typeface="Tahoma"/>
                <a:ea typeface="Tahoma"/>
                <a:cs typeface="Tahoma"/>
              </a:rPr>
              <a:t>add_numbers</a:t>
            </a:r>
            <a:r>
              <a:rPr lang="en-US" sz="1600" dirty="0">
                <a:latin typeface="Tahoma"/>
                <a:ea typeface="Tahoma"/>
                <a:cs typeface="Tahoma"/>
              </a:rPr>
              <a:t>(-1, 1) == 1  # Fail: Result will be 0, but we expect 1</a:t>
            </a:r>
          </a:p>
          <a:p>
            <a:endParaRPr lang="en-US" sz="1600" dirty="0">
              <a:ea typeface="Tahoma"/>
              <a:cs typeface="Tahoma"/>
            </a:endParaRPr>
          </a:p>
          <a:p>
            <a:r>
              <a:rPr lang="en-US" sz="1600" dirty="0">
                <a:latin typeface="Tahoma"/>
                <a:ea typeface="Tahoma"/>
                <a:cs typeface="Tahoma"/>
              </a:rPr>
              <a:t>def </a:t>
            </a:r>
            <a:r>
              <a:rPr lang="en-US" sz="1600" dirty="0" err="1">
                <a:latin typeface="Tahoma"/>
                <a:ea typeface="Tahoma"/>
                <a:cs typeface="Tahoma"/>
              </a:rPr>
              <a:t>test_add_large_numbers</a:t>
            </a:r>
            <a:r>
              <a:rPr lang="en-US" sz="1600" dirty="0">
                <a:latin typeface="Tahoma"/>
                <a:ea typeface="Tahoma"/>
                <a:cs typeface="Tahoma"/>
              </a:rPr>
              <a:t>():</a:t>
            </a:r>
          </a:p>
          <a:p>
            <a:r>
              <a:rPr lang="en-US" sz="1600" dirty="0">
                <a:latin typeface="Tahoma"/>
                <a:ea typeface="Tahoma"/>
                <a:cs typeface="Tahoma"/>
              </a:rPr>
              <a:t>    assert </a:t>
            </a:r>
            <a:r>
              <a:rPr lang="en-US" sz="1600" dirty="0" err="1">
                <a:latin typeface="Tahoma"/>
                <a:ea typeface="Tahoma"/>
                <a:cs typeface="Tahoma"/>
              </a:rPr>
              <a:t>add_numbers</a:t>
            </a:r>
            <a:r>
              <a:rPr lang="en-US" sz="1600" dirty="0">
                <a:latin typeface="Tahoma"/>
                <a:ea typeface="Tahoma"/>
                <a:cs typeface="Tahoma"/>
              </a:rPr>
              <a:t>(10**6, 2 * 10**6) == 2000000  # Fail: 10^6 + 2 * 10^6 = 3000000</a:t>
            </a:r>
          </a:p>
          <a:p>
            <a:r>
              <a:rPr lang="en-US" sz="1600" dirty="0">
                <a:latin typeface="Tahoma"/>
                <a:ea typeface="Tahoma"/>
                <a:cs typeface="Tahoma"/>
              </a:rPr>
              <a:t>    </a:t>
            </a:r>
            <a:endParaRPr lang="en-US" sz="1600" dirty="0">
              <a:ea typeface="Tahoma"/>
              <a:cs typeface="Tahoma"/>
            </a:endParaRPr>
          </a:p>
          <a:p>
            <a:r>
              <a:rPr lang="en-US" sz="1600" dirty="0">
                <a:latin typeface="Tahoma"/>
                <a:ea typeface="Tahoma"/>
                <a:cs typeface="Tahoma"/>
              </a:rPr>
              <a:t>    assert </a:t>
            </a:r>
            <a:r>
              <a:rPr lang="en-US" sz="1600" dirty="0" err="1">
                <a:latin typeface="Tahoma"/>
                <a:ea typeface="Tahoma"/>
                <a:cs typeface="Tahoma"/>
              </a:rPr>
              <a:t>add_numbers</a:t>
            </a:r>
            <a:r>
              <a:rPr lang="en-US" sz="1600" dirty="0">
                <a:latin typeface="Tahoma"/>
                <a:ea typeface="Tahoma"/>
                <a:cs typeface="Tahoma"/>
              </a:rPr>
              <a:t>(10**6, 10**6) == 1500000  # Fail: 10^6 + 10^6 = 2000000</a:t>
            </a:r>
          </a:p>
          <a:p>
            <a:endParaRPr lang="en-US" sz="1600" dirty="0">
              <a:ea typeface="Tahoma"/>
              <a:cs typeface="Tahoma"/>
            </a:endParaRPr>
          </a:p>
          <a:p>
            <a:r>
              <a:rPr lang="en-US" sz="1600" dirty="0">
                <a:latin typeface="Tahoma"/>
                <a:ea typeface="Tahoma"/>
                <a:cs typeface="Tahoma"/>
              </a:rPr>
              <a:t>def </a:t>
            </a:r>
            <a:r>
              <a:rPr lang="en-US" sz="1600" dirty="0" err="1">
                <a:latin typeface="Tahoma"/>
                <a:ea typeface="Tahoma"/>
                <a:cs typeface="Tahoma"/>
              </a:rPr>
              <a:t>test_add_floating_point_numbers</a:t>
            </a:r>
            <a:r>
              <a:rPr lang="en-US" sz="1600" dirty="0">
                <a:latin typeface="Tahoma"/>
                <a:ea typeface="Tahoma"/>
                <a:cs typeface="Tahoma"/>
              </a:rPr>
              <a:t>():</a:t>
            </a:r>
          </a:p>
          <a:p>
            <a:r>
              <a:rPr lang="en-US" sz="1600" dirty="0">
                <a:latin typeface="Tahoma"/>
                <a:ea typeface="Tahoma"/>
                <a:cs typeface="Tahoma"/>
              </a:rPr>
              <a:t>    assert </a:t>
            </a:r>
            <a:r>
              <a:rPr lang="en-US" sz="1600" dirty="0" err="1">
                <a:latin typeface="Tahoma"/>
                <a:ea typeface="Tahoma"/>
                <a:cs typeface="Tahoma"/>
              </a:rPr>
              <a:t>add_numbers</a:t>
            </a:r>
            <a:r>
              <a:rPr lang="en-US" sz="1600" dirty="0">
                <a:latin typeface="Tahoma"/>
                <a:ea typeface="Tahoma"/>
                <a:cs typeface="Tahoma"/>
              </a:rPr>
              <a:t>(2.5, 3.5) == 6.0  # Pass: 2.5 + 3.5 = 6.0</a:t>
            </a:r>
          </a:p>
          <a:p>
            <a:r>
              <a:rPr lang="en-US" sz="1600" dirty="0">
                <a:latin typeface="Tahoma"/>
                <a:ea typeface="Tahoma"/>
                <a:cs typeface="Tahoma"/>
              </a:rPr>
              <a:t>    </a:t>
            </a:r>
            <a:endParaRPr lang="en-US" sz="1600" dirty="0">
              <a:ea typeface="Tahoma"/>
              <a:cs typeface="Tahoma"/>
            </a:endParaRPr>
          </a:p>
          <a:p>
            <a:r>
              <a:rPr lang="en-US" sz="1600" dirty="0">
                <a:latin typeface="Tahoma"/>
                <a:ea typeface="Tahoma"/>
                <a:cs typeface="Tahoma"/>
              </a:rPr>
              <a:t>    assert </a:t>
            </a:r>
            <a:r>
              <a:rPr lang="en-US" sz="1600" dirty="0" err="1">
                <a:latin typeface="Tahoma"/>
                <a:ea typeface="Tahoma"/>
                <a:cs typeface="Tahoma"/>
              </a:rPr>
              <a:t>add_numbers</a:t>
            </a:r>
            <a:r>
              <a:rPr lang="en-US" sz="1600" dirty="0">
                <a:latin typeface="Tahoma"/>
                <a:ea typeface="Tahoma"/>
                <a:cs typeface="Tahoma"/>
              </a:rPr>
              <a:t>(1.5, 2.5) == 4.0  # Pass: 1.5 + 2.5 = 4.0</a:t>
            </a:r>
          </a:p>
        </p:txBody>
      </p:sp>
    </p:spTree>
    <p:extLst>
      <p:ext uri="{BB962C8B-B14F-4D97-AF65-F5344CB8AC3E}">
        <p14:creationId xmlns:p14="http://schemas.microsoft.com/office/powerpoint/2010/main" val="4056466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993062" cy="64293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Demonstration – </a:t>
            </a:r>
            <a:r>
              <a:rPr lang="en-US" dirty="0" err="1">
                <a:ea typeface="+mj-lt"/>
                <a:cs typeface="+mj-lt"/>
              </a:rPr>
              <a:t>Config.yml</a:t>
            </a:r>
            <a:endParaRPr lang="en-US" dirty="0" err="1">
              <a:ea typeface="Tahoma"/>
              <a:cs typeface="Tahom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8" name="Picture 7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D1983CB7-FB58-3107-FE6E-880F63969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568" y="1241939"/>
            <a:ext cx="8695150" cy="513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76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993062" cy="64293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Demonstration – GitHub Branch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9256C43D-3EA2-C16A-54C3-673577FFB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21" y="1816723"/>
            <a:ext cx="8695150" cy="2013702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3F61179-C025-DE0E-5989-6A9A288AD46F}"/>
              </a:ext>
            </a:extLst>
          </p:cNvPr>
          <p:cNvSpPr txBox="1">
            <a:spLocks/>
          </p:cNvSpPr>
          <p:nvPr/>
        </p:nvSpPr>
        <p:spPr>
          <a:xfrm>
            <a:off x="664467" y="4358013"/>
            <a:ext cx="7810457" cy="1419596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2400" kern="0" dirty="0">
                <a:ea typeface="+mn-lt"/>
                <a:cs typeface="+mn-lt"/>
              </a:rPr>
              <a:t>In </a:t>
            </a:r>
            <a:r>
              <a:rPr lang="en-US" sz="2400" kern="0" dirty="0" err="1">
                <a:ea typeface="+mn-lt"/>
                <a:cs typeface="+mn-lt"/>
              </a:rPr>
              <a:t>CircleCI</a:t>
            </a:r>
            <a:r>
              <a:rPr lang="en-US" sz="2400" kern="0" dirty="0">
                <a:ea typeface="+mn-lt"/>
                <a:cs typeface="+mn-lt"/>
              </a:rPr>
              <a:t>, the trigger source is set to "</a:t>
            </a:r>
            <a:r>
              <a:rPr lang="en-US" sz="2400" kern="0" dirty="0" err="1">
                <a:ea typeface="+mn-lt"/>
                <a:cs typeface="+mn-lt"/>
              </a:rPr>
              <a:t>circleci</a:t>
            </a:r>
            <a:r>
              <a:rPr lang="en-US" sz="2400" kern="0" dirty="0">
                <a:ea typeface="+mn-lt"/>
                <a:cs typeface="+mn-lt"/>
              </a:rPr>
              <a:t>-project-setup". Therefore, we renamed the branch from "main" to "</a:t>
            </a:r>
            <a:r>
              <a:rPr lang="en-US" sz="2400" kern="0" dirty="0" err="1">
                <a:ea typeface="+mn-lt"/>
                <a:cs typeface="+mn-lt"/>
              </a:rPr>
              <a:t>circleci</a:t>
            </a:r>
            <a:r>
              <a:rPr lang="en-US" sz="2400" kern="0" dirty="0">
                <a:ea typeface="+mn-lt"/>
                <a:cs typeface="+mn-lt"/>
              </a:rPr>
              <a:t>-project-setup".</a:t>
            </a:r>
          </a:p>
        </p:txBody>
      </p:sp>
    </p:spTree>
    <p:extLst>
      <p:ext uri="{BB962C8B-B14F-4D97-AF65-F5344CB8AC3E}">
        <p14:creationId xmlns:p14="http://schemas.microsoft.com/office/powerpoint/2010/main" val="358472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84295" cy="64293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Demonstration – Project Setup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B4C2B22-E3C5-8689-36B5-CE201405B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357" y="1427265"/>
            <a:ext cx="8068849" cy="5047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42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84295" cy="64293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Demonstration – Pipeline Setup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8B11C102-56F6-55AD-1F07-D6F3EA2A90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315" y="1258884"/>
            <a:ext cx="6043808" cy="522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999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84295" cy="64293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Demonstration – Pipeline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3" name="Picture 2" descr="A screenshot of a project&#10;&#10;Description automatically generated">
            <a:extLst>
              <a:ext uri="{FF2B5EF4-FFF2-40B4-BE49-F238E27FC236}">
                <a16:creationId xmlns:a16="http://schemas.microsoft.com/office/drawing/2014/main" id="{83182AFC-59E6-5F85-AFF2-69F113B47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54" y="1988840"/>
            <a:ext cx="8745496" cy="387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02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84295" cy="64293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Demonstration – Build Page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4A9964D5-C8A9-8CDE-995A-F7A2C483C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08" y="1541263"/>
            <a:ext cx="8744325" cy="470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100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84295" cy="64293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Demonstration – Error Message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3A412976-7CF0-1BDC-E393-0E8D2D928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748" y="1196752"/>
            <a:ext cx="8378504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7908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84295" cy="64293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Demonstration – report.html (1)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C0A73EB-8303-D2E0-72B4-FC1DDFCFAF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192" y="1248646"/>
            <a:ext cx="7526055" cy="5467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517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84295" cy="64293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Demonstration – report.html (2)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0E88904-6DF3-69F3-7E7D-A6F8A222E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91" y="1717410"/>
            <a:ext cx="8768217" cy="454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14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Demo – Test File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73F1B49-7417-C5F0-1A33-4290FDC041E4}"/>
              </a:ext>
            </a:extLst>
          </p:cNvPr>
          <p:cNvSpPr txBox="1">
            <a:spLocks/>
          </p:cNvSpPr>
          <p:nvPr/>
        </p:nvSpPr>
        <p:spPr>
          <a:xfrm>
            <a:off x="634534" y="1490382"/>
            <a:ext cx="7883525" cy="498951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400" kern="0" dirty="0"/>
              <a:t>Our GitHub</a:t>
            </a:r>
            <a:r>
              <a:rPr lang="en-US" sz="2400" kern="0" dirty="0">
                <a:ea typeface="+mn-lt"/>
                <a:cs typeface="+mn-lt"/>
              </a:rPr>
              <a:t> repository:  </a:t>
            </a:r>
            <a:r>
              <a:rPr lang="en-US" sz="2400" kern="0" dirty="0">
                <a:ea typeface="+mn-lt"/>
                <a:cs typeface="+mn-lt"/>
                <a:hlinkClick r:id="rId3"/>
              </a:rPr>
              <a:t>https://github.com/spaces1233/GitHub_CircleCI</a:t>
            </a:r>
            <a:endParaRPr lang="en-US" kern="0">
              <a:ea typeface="Tahoma"/>
              <a:cs typeface="Tahoma"/>
            </a:endParaRPr>
          </a:p>
          <a:p>
            <a:pPr marL="0" indent="0">
              <a:buClr>
                <a:srgbClr val="3333CC"/>
              </a:buClr>
              <a:buNone/>
            </a:pPr>
            <a:endParaRPr lang="en-US" sz="2400" kern="0" dirty="0">
              <a:ea typeface="Tahoma"/>
              <a:cs typeface="Tahoma"/>
            </a:endParaRPr>
          </a:p>
          <a:p>
            <a:pPr>
              <a:buClr>
                <a:srgbClr val="3333CC"/>
              </a:buClr>
            </a:pPr>
            <a:r>
              <a:rPr lang="en-US" sz="2400" kern="0" dirty="0">
                <a:ea typeface="Tahoma"/>
                <a:cs typeface="Tahoma"/>
              </a:rPr>
              <a:t>Our </a:t>
            </a:r>
            <a:r>
              <a:rPr lang="en-US" sz="2400" kern="0" dirty="0" err="1">
                <a:ea typeface="Tahoma"/>
                <a:cs typeface="Tahoma"/>
              </a:rPr>
              <a:t>CircleCI</a:t>
            </a:r>
            <a:r>
              <a:rPr lang="en-US" sz="2400" kern="0" dirty="0">
                <a:ea typeface="Tahoma"/>
                <a:cs typeface="Tahoma"/>
              </a:rPr>
              <a:t> organization home page: </a:t>
            </a:r>
            <a:r>
              <a:rPr lang="en-US" sz="2400" kern="0" dirty="0">
                <a:ea typeface="Tahoma"/>
                <a:cs typeface="Tahoma"/>
                <a:hlinkClick r:id="rId4"/>
              </a:rPr>
              <a:t>https://app.circleci.com/organization/circleci/MnA9UhYF8jBfCEzuD5D9KW</a:t>
            </a:r>
          </a:p>
          <a:p>
            <a:pPr marL="0" indent="0">
              <a:buClr>
                <a:srgbClr val="3333CC"/>
              </a:buClr>
              <a:buNone/>
            </a:pPr>
            <a:endParaRPr lang="en-US" sz="2400" kern="0" dirty="0">
              <a:ea typeface="Tahoma"/>
              <a:cs typeface="Tahoma"/>
            </a:endParaRPr>
          </a:p>
          <a:p>
            <a:pPr>
              <a:buClr>
                <a:srgbClr val="3333CC"/>
              </a:buClr>
            </a:pPr>
            <a:r>
              <a:rPr lang="en-US" sz="2400" kern="0" dirty="0">
                <a:ea typeface="Tahoma"/>
                <a:cs typeface="Tahoma"/>
              </a:rPr>
              <a:t>Our original test file has 1 test pass (both </a:t>
            </a:r>
            <a:r>
              <a:rPr lang="en-US" sz="2400" kern="0" dirty="0">
                <a:ea typeface="+mn-lt"/>
                <a:cs typeface="+mn-lt"/>
              </a:rPr>
              <a:t>assertions </a:t>
            </a:r>
            <a:r>
              <a:rPr lang="en-US" sz="2400" kern="0" dirty="0">
                <a:ea typeface="Tahoma"/>
                <a:cs typeface="Tahoma"/>
              </a:rPr>
              <a:t>pass) and 2 tests fail (one or two fail).</a:t>
            </a:r>
          </a:p>
          <a:p>
            <a:pPr>
              <a:buClr>
                <a:srgbClr val="3333CC"/>
              </a:buClr>
            </a:pPr>
            <a:endParaRPr lang="en-US" sz="2400" kern="0" dirty="0">
              <a:ea typeface="Tahoma"/>
              <a:cs typeface="Tahoma"/>
            </a:endParaRPr>
          </a:p>
          <a:p>
            <a:pPr>
              <a:buClr>
                <a:srgbClr val="3333CC"/>
              </a:buClr>
            </a:pPr>
            <a:r>
              <a:rPr lang="en-US" sz="2400" kern="0" dirty="0">
                <a:ea typeface="Tahoma"/>
                <a:cs typeface="Tahoma"/>
              </a:rPr>
              <a:t>Then we will change the test file to make all 3 tests pass and see the result at </a:t>
            </a:r>
            <a:r>
              <a:rPr lang="en-US" sz="2400" kern="0" dirty="0" err="1">
                <a:ea typeface="Tahoma"/>
                <a:cs typeface="Tahoma"/>
              </a:rPr>
              <a:t>CircleCI</a:t>
            </a:r>
            <a:r>
              <a:rPr lang="en-US" sz="2400" kern="0" dirty="0">
                <a:ea typeface="Tahoma"/>
                <a:cs typeface="Tahoma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Real-World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C3F68A-8B6B-450F-4FD7-E55E778EC754}"/>
              </a:ext>
            </a:extLst>
          </p:cNvPr>
          <p:cNvSpPr txBox="1">
            <a:spLocks/>
          </p:cNvSpPr>
          <p:nvPr/>
        </p:nvSpPr>
        <p:spPr>
          <a:xfrm>
            <a:off x="634534" y="1490382"/>
            <a:ext cx="7883525" cy="4989513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20"/>
              </a:spcBef>
            </a:pPr>
            <a:r>
              <a:rPr lang="en-US" sz="2400" kern="0" dirty="0">
                <a:ea typeface="+mn-lt"/>
                <a:cs typeface="+mn-lt"/>
              </a:rPr>
              <a:t>Open-Source Projects</a:t>
            </a:r>
            <a:endParaRPr lang="en-US" sz="2400" dirty="0">
              <a:ea typeface="+mn-lt"/>
              <a:cs typeface="+mn-lt"/>
            </a:endParaRPr>
          </a:p>
          <a:p>
            <a:pPr lvl="1">
              <a:spcBef>
                <a:spcPts val="20"/>
              </a:spcBef>
              <a:buClr>
                <a:srgbClr val="FF0000"/>
              </a:buClr>
              <a:buFont typeface="Wingdings" panose="05000000000000000000" pitchFamily="2" charset="2"/>
              <a:buChar char=""/>
            </a:pPr>
            <a:r>
              <a:rPr lang="en-US" sz="2000" kern="0" dirty="0">
                <a:ea typeface="+mn-lt"/>
                <a:cs typeface="+mn-lt"/>
              </a:rPr>
              <a:t>Node.js libraries and Python packages use </a:t>
            </a:r>
            <a:r>
              <a:rPr lang="en-US" sz="2000" kern="0" dirty="0" err="1">
                <a:ea typeface="+mn-lt"/>
                <a:cs typeface="+mn-lt"/>
              </a:rPr>
              <a:t>CircleCI</a:t>
            </a:r>
            <a:r>
              <a:rPr lang="en-US" sz="2000" kern="0" dirty="0">
                <a:ea typeface="+mn-lt"/>
                <a:cs typeface="+mn-lt"/>
              </a:rPr>
              <a:t> for automated testing and compatibility checks.</a:t>
            </a:r>
            <a:endParaRPr lang="en-US" sz="2000" dirty="0">
              <a:ea typeface="Tahoma"/>
              <a:cs typeface="Tahoma"/>
            </a:endParaRPr>
          </a:p>
          <a:p>
            <a:pPr lvl="1">
              <a:spcBef>
                <a:spcPts val="20"/>
              </a:spcBef>
              <a:buClr>
                <a:srgbClr val="FF0000"/>
              </a:buClr>
              <a:buChar char="§"/>
            </a:pPr>
            <a:endParaRPr lang="en-US" sz="2000" kern="0" dirty="0">
              <a:ea typeface="+mn-lt"/>
              <a:cs typeface="+mn-lt"/>
            </a:endParaRPr>
          </a:p>
          <a:p>
            <a:pPr>
              <a:spcBef>
                <a:spcPts val="20"/>
              </a:spcBef>
              <a:buClr>
                <a:srgbClr val="3333CC"/>
              </a:buClr>
            </a:pPr>
            <a:r>
              <a:rPr lang="en-US" sz="2400" kern="0" dirty="0">
                <a:ea typeface="+mn-lt"/>
                <a:cs typeface="+mn-lt"/>
              </a:rPr>
              <a:t>Web Applications</a:t>
            </a:r>
            <a:endParaRPr lang="en-US" dirty="0">
              <a:ea typeface="+mn-lt"/>
              <a:cs typeface="+mn-lt"/>
            </a:endParaRPr>
          </a:p>
          <a:p>
            <a:pPr lvl="1">
              <a:spcBef>
                <a:spcPts val="20"/>
              </a:spcBef>
              <a:buClr>
                <a:srgbClr val="FF0000"/>
              </a:buClr>
              <a:buFont typeface="Wingdings" panose="05000000000000000000" pitchFamily="2" charset="2"/>
              <a:buChar char=""/>
            </a:pPr>
            <a:r>
              <a:rPr lang="en-US" sz="2000" kern="0" dirty="0">
                <a:ea typeface="+mn-lt"/>
                <a:cs typeface="+mn-lt"/>
              </a:rPr>
              <a:t>CI pipelines streamline testing and deployment for SaaS platforms and e-commerce sites (e.g., AWS, Heroku).</a:t>
            </a:r>
          </a:p>
          <a:p>
            <a:pPr lvl="1">
              <a:spcBef>
                <a:spcPts val="20"/>
              </a:spcBef>
              <a:buClr>
                <a:srgbClr val="FF0000"/>
              </a:buClr>
              <a:buChar char="§"/>
            </a:pPr>
            <a:endParaRPr lang="en-US" sz="2000" kern="0" dirty="0">
              <a:ea typeface="Tahoma"/>
              <a:cs typeface="Tahoma"/>
            </a:endParaRPr>
          </a:p>
          <a:p>
            <a:pPr>
              <a:spcBef>
                <a:spcPts val="20"/>
              </a:spcBef>
              <a:buClr>
                <a:srgbClr val="3333CC"/>
              </a:buClr>
            </a:pPr>
            <a:r>
              <a:rPr lang="en-US" sz="2400" kern="0" dirty="0">
                <a:ea typeface="+mn-lt"/>
                <a:cs typeface="+mn-lt"/>
              </a:rPr>
              <a:t>Game Development</a:t>
            </a:r>
            <a:endParaRPr lang="en-US" dirty="0">
              <a:ea typeface="+mn-lt"/>
              <a:cs typeface="+mn-lt"/>
            </a:endParaRPr>
          </a:p>
          <a:p>
            <a:pPr lvl="1">
              <a:spcBef>
                <a:spcPts val="20"/>
              </a:spcBef>
              <a:buClr>
                <a:srgbClr val="FF0000"/>
              </a:buClr>
              <a:buFont typeface="Wingdings" panose="05000000000000000000" pitchFamily="2" charset="2"/>
              <a:buChar char=""/>
            </a:pPr>
            <a:r>
              <a:rPr lang="en-US" sz="2000" kern="0" dirty="0">
                <a:ea typeface="+mn-lt"/>
                <a:cs typeface="+mn-lt"/>
              </a:rPr>
              <a:t>Unity projects rely on </a:t>
            </a:r>
            <a:r>
              <a:rPr lang="en-US" sz="2000" kern="0" dirty="0" err="1">
                <a:ea typeface="+mn-lt"/>
                <a:cs typeface="+mn-lt"/>
              </a:rPr>
              <a:t>CircleCI</a:t>
            </a:r>
            <a:r>
              <a:rPr lang="en-US" sz="2000" kern="0" dirty="0">
                <a:ea typeface="+mn-lt"/>
                <a:cs typeface="+mn-lt"/>
              </a:rPr>
              <a:t> for testing and ensuring cross-platform builds.</a:t>
            </a:r>
          </a:p>
          <a:p>
            <a:pPr lvl="1">
              <a:spcBef>
                <a:spcPts val="20"/>
              </a:spcBef>
              <a:buClr>
                <a:srgbClr val="FF0000"/>
              </a:buClr>
              <a:buChar char="§"/>
            </a:pPr>
            <a:endParaRPr lang="en-US" sz="2000" kern="0" dirty="0">
              <a:ea typeface="+mn-lt"/>
              <a:cs typeface="+mn-lt"/>
            </a:endParaRPr>
          </a:p>
          <a:p>
            <a:pPr>
              <a:spcBef>
                <a:spcPts val="20"/>
              </a:spcBef>
              <a:buClr>
                <a:srgbClr val="3333CC"/>
              </a:buClr>
            </a:pPr>
            <a:r>
              <a:rPr lang="en-US" sz="2400" kern="0" dirty="0">
                <a:ea typeface="+mn-lt"/>
                <a:cs typeface="+mn-lt"/>
              </a:rPr>
              <a:t>Mobile Apps</a:t>
            </a:r>
            <a:endParaRPr lang="en-US" dirty="0">
              <a:ea typeface="+mn-lt"/>
              <a:cs typeface="+mn-lt"/>
            </a:endParaRPr>
          </a:p>
          <a:p>
            <a:pPr lvl="1">
              <a:spcBef>
                <a:spcPts val="20"/>
              </a:spcBef>
              <a:buClr>
                <a:srgbClr val="FF0000"/>
              </a:buClr>
              <a:buFont typeface="Wingdings" panose="05000000000000000000" pitchFamily="2" charset="2"/>
              <a:buChar char=""/>
            </a:pPr>
            <a:r>
              <a:rPr lang="en-US" sz="2000" kern="0" dirty="0" err="1">
                <a:ea typeface="+mn-lt"/>
                <a:cs typeface="+mn-lt"/>
              </a:rPr>
              <a:t>CircleCI</a:t>
            </a:r>
            <a:r>
              <a:rPr lang="en-US" sz="2000" kern="0" dirty="0">
                <a:ea typeface="+mn-lt"/>
                <a:cs typeface="+mn-lt"/>
              </a:rPr>
              <a:t> supports Android/iOS app testing, integration, and beta deployment via Firebase or TestFlight.</a:t>
            </a:r>
          </a:p>
          <a:p>
            <a:pPr>
              <a:spcBef>
                <a:spcPts val="20"/>
              </a:spcBef>
              <a:buClr>
                <a:srgbClr val="3333CC"/>
              </a:buClr>
            </a:pPr>
            <a:endParaRPr lang="en-US" sz="2400" kern="0" dirty="0">
              <a:ea typeface="Tahoma"/>
              <a:cs typeface="Tahoma"/>
            </a:endParaRPr>
          </a:p>
        </p:txBody>
      </p:sp>
    </p:spTree>
    <p:extLst>
      <p:ext uri="{BB962C8B-B14F-4D97-AF65-F5344CB8AC3E}">
        <p14:creationId xmlns:p14="http://schemas.microsoft.com/office/powerpoint/2010/main" val="35792349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Features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C3F68A-8B6B-450F-4FD7-E55E778EC754}"/>
              </a:ext>
            </a:extLst>
          </p:cNvPr>
          <p:cNvSpPr txBox="1">
            <a:spLocks/>
          </p:cNvSpPr>
          <p:nvPr/>
        </p:nvSpPr>
        <p:spPr>
          <a:xfrm>
            <a:off x="98437" y="1176817"/>
            <a:ext cx="8652267" cy="556607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2000" i="1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ts val="20"/>
              </a:spcBef>
            </a:pPr>
            <a:r>
              <a:rPr lang="en-US" sz="2400" kern="0" dirty="0"/>
              <a:t>Parallel Builds</a:t>
            </a:r>
            <a:endParaRPr lang="en-US" dirty="0"/>
          </a:p>
          <a:p>
            <a:pPr lvl="1">
              <a:spcBef>
                <a:spcPts val="20"/>
              </a:spcBef>
              <a:buClr>
                <a:srgbClr val="FF0000"/>
              </a:buClr>
              <a:buFont typeface="Wingdings" panose="05000000000000000000" pitchFamily="2" charset="2"/>
              <a:buChar char=""/>
            </a:pPr>
            <a:r>
              <a:rPr lang="en-US" sz="2000" kern="0" dirty="0">
                <a:ea typeface="+mn-lt"/>
                <a:cs typeface="+mn-lt"/>
              </a:rPr>
              <a:t>Speeds up testing by running multiple jobs (e.g., "Unit Tests," "Integration Tests") simultaneously.</a:t>
            </a:r>
            <a:br>
              <a:rPr lang="en-US" sz="2000" kern="0" dirty="0">
                <a:ea typeface="+mn-lt"/>
                <a:cs typeface="+mn-lt"/>
              </a:rPr>
            </a:br>
            <a:r>
              <a:rPr lang="en-US" sz="2000" kern="0" dirty="0">
                <a:ea typeface="+mn-lt"/>
                <a:cs typeface="+mn-lt"/>
              </a:rPr>
              <a:t>Example: Faster CI pipelines for large projects.</a:t>
            </a:r>
          </a:p>
          <a:p>
            <a:pPr lvl="1">
              <a:spcBef>
                <a:spcPts val="20"/>
              </a:spcBef>
              <a:buClr>
                <a:srgbClr val="FF0000"/>
              </a:buClr>
              <a:buChar char="§"/>
            </a:pPr>
            <a:endParaRPr lang="en-US" sz="2000" kern="0" dirty="0">
              <a:ea typeface="+mn-lt"/>
              <a:cs typeface="+mn-lt"/>
            </a:endParaRPr>
          </a:p>
          <a:p>
            <a:pPr>
              <a:spcBef>
                <a:spcPts val="20"/>
              </a:spcBef>
              <a:buClr>
                <a:srgbClr val="3333CC"/>
              </a:buClr>
            </a:pPr>
            <a:r>
              <a:rPr lang="en-US" sz="2400" kern="0" dirty="0">
                <a:ea typeface="+mn-lt"/>
                <a:cs typeface="+mn-lt"/>
              </a:rPr>
              <a:t>Workflows</a:t>
            </a:r>
            <a:endParaRPr lang="en-US" dirty="0">
              <a:ea typeface="+mn-lt"/>
              <a:cs typeface="+mn-lt"/>
            </a:endParaRPr>
          </a:p>
          <a:p>
            <a:pPr lvl="1">
              <a:spcBef>
                <a:spcPts val="20"/>
              </a:spcBef>
              <a:buClr>
                <a:srgbClr val="FF0000"/>
              </a:buClr>
              <a:buFont typeface="Wingdings" panose="05000000000000000000" pitchFamily="2" charset="2"/>
              <a:buChar char=""/>
            </a:pPr>
            <a:r>
              <a:rPr lang="en-US" sz="2000" kern="0" dirty="0">
                <a:ea typeface="+mn-lt"/>
                <a:cs typeface="+mn-lt"/>
              </a:rPr>
              <a:t>Manages multi-job pipelines with dependencies.</a:t>
            </a:r>
            <a:br>
              <a:rPr lang="en-US" sz="2000" kern="0" dirty="0">
                <a:ea typeface="+mn-lt"/>
                <a:cs typeface="+mn-lt"/>
              </a:rPr>
            </a:br>
            <a:r>
              <a:rPr lang="en-US" sz="2000" kern="0" dirty="0">
                <a:ea typeface="+mn-lt"/>
                <a:cs typeface="+mn-lt"/>
              </a:rPr>
              <a:t>Example: "Run Tests" → "Build App" → "Deploy to Staging."</a:t>
            </a:r>
          </a:p>
          <a:p>
            <a:pPr lvl="1">
              <a:spcBef>
                <a:spcPts val="20"/>
              </a:spcBef>
              <a:buClr>
                <a:srgbClr val="FF0000"/>
              </a:buClr>
              <a:buChar char="§"/>
            </a:pPr>
            <a:endParaRPr lang="en-US" sz="2000" kern="0" dirty="0">
              <a:ea typeface="+mn-lt"/>
              <a:cs typeface="+mn-lt"/>
            </a:endParaRPr>
          </a:p>
          <a:p>
            <a:pPr>
              <a:spcBef>
                <a:spcPts val="20"/>
              </a:spcBef>
              <a:buClr>
                <a:srgbClr val="3333CC"/>
              </a:buClr>
            </a:pPr>
            <a:r>
              <a:rPr lang="en-US" sz="2400" kern="0" dirty="0">
                <a:ea typeface="+mn-lt"/>
                <a:cs typeface="+mn-lt"/>
              </a:rPr>
              <a:t>Deployment</a:t>
            </a:r>
            <a:endParaRPr lang="en-US" dirty="0">
              <a:ea typeface="+mn-lt"/>
              <a:cs typeface="+mn-lt"/>
            </a:endParaRPr>
          </a:p>
          <a:p>
            <a:pPr lvl="1">
              <a:spcBef>
                <a:spcPts val="20"/>
              </a:spcBef>
              <a:buClr>
                <a:srgbClr val="FF0000"/>
              </a:buClr>
              <a:buFont typeface="Wingdings" panose="05000000000000000000" pitchFamily="2" charset="2"/>
              <a:buChar char=""/>
            </a:pPr>
            <a:r>
              <a:rPr lang="en-US" sz="2000" kern="0" dirty="0">
                <a:ea typeface="+mn-lt"/>
                <a:cs typeface="+mn-lt"/>
              </a:rPr>
              <a:t>Supports platforms like AWS, Heroku, or Docker Hub.</a:t>
            </a:r>
            <a:br>
              <a:rPr lang="en-US" sz="2000" kern="0" dirty="0">
                <a:ea typeface="+mn-lt"/>
                <a:cs typeface="+mn-lt"/>
              </a:rPr>
            </a:br>
            <a:r>
              <a:rPr lang="en-US" sz="2000" kern="0" dirty="0">
                <a:ea typeface="+mn-lt"/>
                <a:cs typeface="+mn-lt"/>
              </a:rPr>
              <a:t>Example: Automate deployment to staging and production environments.</a:t>
            </a:r>
          </a:p>
          <a:p>
            <a:pPr lvl="1">
              <a:spcBef>
                <a:spcPts val="20"/>
              </a:spcBef>
              <a:buClr>
                <a:srgbClr val="FF0000"/>
              </a:buClr>
              <a:buChar char="§"/>
            </a:pPr>
            <a:endParaRPr lang="en-US" sz="2000" kern="0" dirty="0">
              <a:ea typeface="Tahoma"/>
              <a:cs typeface="Tahoma"/>
            </a:endParaRPr>
          </a:p>
          <a:p>
            <a:pPr>
              <a:spcBef>
                <a:spcPts val="20"/>
              </a:spcBef>
              <a:buClr>
                <a:srgbClr val="3333CC"/>
              </a:buClr>
            </a:pPr>
            <a:r>
              <a:rPr lang="en-US" sz="2400" kern="0" dirty="0">
                <a:ea typeface="Tahoma"/>
                <a:cs typeface="Tahoma"/>
              </a:rPr>
              <a:t>Custom Scripts</a:t>
            </a:r>
            <a:endParaRPr lang="en-US" dirty="0">
              <a:ea typeface="Tahoma"/>
              <a:cs typeface="Tahoma"/>
            </a:endParaRPr>
          </a:p>
          <a:p>
            <a:pPr lvl="1">
              <a:spcBef>
                <a:spcPts val="20"/>
              </a:spcBef>
              <a:buClr>
                <a:srgbClr val="FF0000"/>
              </a:buClr>
              <a:buFont typeface="Wingdings" panose="05000000000000000000" pitchFamily="2" charset="2"/>
              <a:buChar char=""/>
            </a:pPr>
            <a:r>
              <a:rPr lang="en-US" sz="2000" kern="0" dirty="0">
                <a:ea typeface="+mn-lt"/>
                <a:cs typeface="+mn-lt"/>
              </a:rPr>
              <a:t>Allows advanced workflows tailored to project needs.</a:t>
            </a:r>
            <a:br>
              <a:rPr lang="en-US" sz="2000" kern="0" dirty="0">
                <a:ea typeface="+mn-lt"/>
                <a:cs typeface="+mn-lt"/>
              </a:rPr>
            </a:br>
            <a:r>
              <a:rPr lang="en-US" sz="2000" kern="0" dirty="0">
                <a:ea typeface="+mn-lt"/>
                <a:cs typeface="+mn-lt"/>
              </a:rPr>
              <a:t>Example: Run pre-deployment scripts or custom environment setup.</a:t>
            </a:r>
          </a:p>
          <a:p>
            <a:pPr>
              <a:buClr>
                <a:srgbClr val="3333CC"/>
              </a:buClr>
            </a:pPr>
            <a:endParaRPr lang="en-US" kern="0" dirty="0">
              <a:ea typeface="Tahoma"/>
              <a:cs typeface="Tahoma"/>
            </a:endParaRPr>
          </a:p>
          <a:p>
            <a:pPr marL="0" indent="0">
              <a:buClr>
                <a:srgbClr val="3333CC"/>
              </a:buClr>
              <a:buNone/>
            </a:pPr>
            <a:endParaRPr lang="en-US" sz="2400" kern="0" dirty="0">
              <a:ea typeface="Tahoma"/>
              <a:cs typeface="Tahoma"/>
            </a:endParaRPr>
          </a:p>
          <a:p>
            <a:pPr>
              <a:buClr>
                <a:srgbClr val="3333CC"/>
              </a:buClr>
            </a:pPr>
            <a:endParaRPr lang="en-US" sz="2400" kern="0" dirty="0">
              <a:ea typeface="Tahoma"/>
              <a:cs typeface="Tahom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with Similar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910" y="913844"/>
            <a:ext cx="8272878" cy="5924041"/>
          </a:xfrm>
        </p:spPr>
        <p:txBody>
          <a:bodyPr/>
          <a:lstStyle/>
          <a:p>
            <a:r>
              <a:rPr lang="en-US" sz="2400" dirty="0"/>
              <a:t>GitLab CI/CD:</a:t>
            </a:r>
            <a:endParaRPr lang="en-US" dirty="0"/>
          </a:p>
          <a:p>
            <a:pPr lvl="1"/>
            <a:r>
              <a:rPr lang="en-US" sz="2000" dirty="0"/>
              <a:t>Built-in CI/CD for GitLab projects.</a:t>
            </a:r>
            <a:endParaRPr lang="en-US" sz="2000" dirty="0">
              <a:ea typeface="Tahoma"/>
              <a:cs typeface="Tahoma"/>
            </a:endParaRPr>
          </a:p>
          <a:p>
            <a:pPr lvl="1"/>
            <a:r>
              <a:rPr lang="en-US" sz="2000" dirty="0"/>
              <a:t>Advantages: Seamless integration, free tiers for private and public repos.</a:t>
            </a:r>
            <a:endParaRPr lang="en-US" sz="2000" dirty="0">
              <a:ea typeface="Tahoma"/>
              <a:cs typeface="Tahoma"/>
            </a:endParaRPr>
          </a:p>
          <a:p>
            <a:pPr lvl="1"/>
            <a:r>
              <a:rPr lang="en-US" sz="2000" dirty="0"/>
              <a:t>Limitations: Requires GitLab platform.</a:t>
            </a:r>
            <a:endParaRPr lang="en-US" sz="2000" dirty="0">
              <a:ea typeface="Tahoma"/>
              <a:cs typeface="Tahoma"/>
            </a:endParaRPr>
          </a:p>
          <a:p>
            <a:pPr>
              <a:spcBef>
                <a:spcPts val="20"/>
              </a:spcBef>
              <a:buClr>
                <a:srgbClr val="3333CC"/>
              </a:buClr>
            </a:pPr>
            <a:r>
              <a:rPr lang="en-US" sz="2400" dirty="0"/>
              <a:t>Jenkins:</a:t>
            </a:r>
            <a:endParaRPr lang="en-US" sz="2400" dirty="0">
              <a:ea typeface="Tahoma"/>
              <a:cs typeface="Tahoma"/>
            </a:endParaRPr>
          </a:p>
          <a:p>
            <a:pPr lvl="1"/>
            <a:r>
              <a:rPr lang="en-US" sz="2000" dirty="0"/>
              <a:t>Self-hosted CI/CD tool with extensive customization.</a:t>
            </a:r>
            <a:endParaRPr lang="en-US" sz="2000" dirty="0">
              <a:ea typeface="Tahoma"/>
              <a:cs typeface="Tahoma"/>
            </a:endParaRPr>
          </a:p>
          <a:p>
            <a:pPr lvl="1"/>
            <a:r>
              <a:rPr lang="en-US" sz="2000" dirty="0"/>
              <a:t>Advantages: Highly flexible, supports complex workflows.</a:t>
            </a:r>
            <a:endParaRPr lang="en-US" sz="2000" dirty="0">
              <a:ea typeface="Tahoma"/>
              <a:cs typeface="Tahoma"/>
            </a:endParaRPr>
          </a:p>
          <a:p>
            <a:pPr lvl="1"/>
            <a:r>
              <a:rPr lang="en-US" sz="2000" dirty="0"/>
              <a:t>Limitations: Steep learning curve, requires server maintenance.</a:t>
            </a:r>
            <a:endParaRPr lang="en-US" sz="2000">
              <a:ea typeface="Tahoma"/>
              <a:cs typeface="Tahoma"/>
            </a:endParaRPr>
          </a:p>
          <a:p>
            <a:r>
              <a:rPr lang="en-US" sz="2400" dirty="0">
                <a:ea typeface="Tahoma"/>
                <a:cs typeface="Tahoma"/>
              </a:rPr>
              <a:t>Why GitHub + </a:t>
            </a:r>
            <a:r>
              <a:rPr lang="en-US" sz="2400" dirty="0" err="1">
                <a:ea typeface="Tahoma"/>
                <a:cs typeface="Tahoma"/>
              </a:rPr>
              <a:t>CircleCI</a:t>
            </a:r>
            <a:r>
              <a:rPr lang="en-US" sz="2400" dirty="0">
                <a:ea typeface="Tahoma"/>
                <a:cs typeface="Tahoma"/>
              </a:rPr>
              <a:t>?</a:t>
            </a:r>
          </a:p>
          <a:p>
            <a:pPr lvl="1">
              <a:buClr>
                <a:srgbClr val="FF0000"/>
              </a:buClr>
            </a:pPr>
            <a:r>
              <a:rPr lang="en-US" sz="2000" dirty="0">
                <a:ea typeface="Tahoma"/>
                <a:cs typeface="Tahoma"/>
              </a:rPr>
              <a:t>Integration: Optimized for GitHub repositories with effortless setup.</a:t>
            </a:r>
          </a:p>
          <a:p>
            <a:pPr lvl="1">
              <a:buClr>
                <a:srgbClr val="FF0000"/>
              </a:buClr>
            </a:pPr>
            <a:r>
              <a:rPr lang="en-US" sz="2000" dirty="0">
                <a:ea typeface="Tahoma"/>
                <a:cs typeface="Tahoma"/>
              </a:rPr>
              <a:t>Simplicity: No server hosting needed; beginner-friendly .</a:t>
            </a:r>
            <a:r>
              <a:rPr lang="en-US" sz="2000" dirty="0" err="1">
                <a:ea typeface="Tahoma"/>
                <a:cs typeface="Tahoma"/>
              </a:rPr>
              <a:t>circleci</a:t>
            </a:r>
            <a:r>
              <a:rPr lang="en-US" sz="2000" dirty="0">
                <a:ea typeface="Tahoma"/>
                <a:cs typeface="Tahoma"/>
              </a:rPr>
              <a:t>/</a:t>
            </a:r>
            <a:r>
              <a:rPr lang="en-US" sz="2000" dirty="0" err="1">
                <a:ea typeface="Tahoma"/>
                <a:cs typeface="Tahoma"/>
              </a:rPr>
              <a:t>config.yml</a:t>
            </a:r>
            <a:r>
              <a:rPr lang="en-US" sz="2000" dirty="0">
                <a:ea typeface="Tahoma"/>
                <a:cs typeface="Tahoma"/>
              </a:rPr>
              <a:t>.</a:t>
            </a:r>
          </a:p>
          <a:p>
            <a:pPr lvl="1">
              <a:buClr>
                <a:srgbClr val="FF0000"/>
              </a:buClr>
            </a:pPr>
            <a:r>
              <a:rPr lang="en-US" sz="2000" dirty="0">
                <a:ea typeface="Tahoma"/>
                <a:cs typeface="Tahoma"/>
              </a:rPr>
              <a:t>Accessibility: Free for open-source projects; supports multiple languages.</a:t>
            </a:r>
            <a:endParaRPr lang="en-US" dirty="0"/>
          </a:p>
          <a:p>
            <a:pPr lvl="1">
              <a:buClr>
                <a:srgbClr val="FF0000"/>
              </a:buClr>
            </a:pPr>
            <a:endParaRPr lang="en-US" sz="2000" dirty="0">
              <a:ea typeface="Tahoma"/>
              <a:cs typeface="Tahoma"/>
            </a:endParaRPr>
          </a:p>
          <a:p>
            <a:pPr lvl="1">
              <a:buClr>
                <a:srgbClr val="FF0000"/>
              </a:buClr>
            </a:pPr>
            <a:endParaRPr lang="en-US" sz="2000" dirty="0">
              <a:ea typeface="Tahoma"/>
              <a:cs typeface="Tahom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4196DE4-C91C-46FE-96F4-4D8414AA8679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F12E7CC5-C78B-4EBD-9565-3FA00FAA6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prstClr val="white"/>
              </a:solidFill>
              <a:latin typeface="Trebuchet MS"/>
            </a:endParaRPr>
          </a:p>
        </p:txBody>
      </p:sp>
      <p:pic>
        <p:nvPicPr>
          <p:cNvPr id="7" name="Graphic 6" descr="Questions">
            <a:extLst>
              <a:ext uri="{FF2B5EF4-FFF2-40B4-BE49-F238E27FC236}">
                <a16:creationId xmlns:a16="http://schemas.microsoft.com/office/drawing/2014/main" id="{F094791D-C064-A4AD-D38E-7F688738F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3741" y="2165637"/>
            <a:ext cx="2526727" cy="2526727"/>
          </a:xfrm>
          <a:prstGeom prst="rect">
            <a:avLst/>
          </a:prstGeom>
        </p:spPr>
      </p:pic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3A4529A5-F675-429F-8044-01372BB13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2494" y="857250"/>
            <a:ext cx="5671506" cy="5143500"/>
          </a:xfrm>
          <a:custGeom>
            <a:avLst/>
            <a:gdLst>
              <a:gd name="connsiteX0" fmla="*/ 7529613 w 7529613"/>
              <a:gd name="connsiteY0" fmla="*/ 0 h 6858000"/>
              <a:gd name="connsiteX1" fmla="*/ 1222331 w 7529613"/>
              <a:gd name="connsiteY1" fmla="*/ 0 h 6858000"/>
              <a:gd name="connsiteX2" fmla="*/ 1126483 w 7529613"/>
              <a:gd name="connsiteY2" fmla="*/ 148742 h 6858000"/>
              <a:gd name="connsiteX3" fmla="*/ 767554 w 7529613"/>
              <a:gd name="connsiteY3" fmla="*/ 819975 h 6858000"/>
              <a:gd name="connsiteX4" fmla="*/ 742103 w 7529613"/>
              <a:gd name="connsiteY4" fmla="*/ 854514 h 6858000"/>
              <a:gd name="connsiteX5" fmla="*/ 785881 w 7529613"/>
              <a:gd name="connsiteY5" fmla="*/ 750263 h 6858000"/>
              <a:gd name="connsiteX6" fmla="*/ 978978 w 7529613"/>
              <a:gd name="connsiteY6" fmla="*/ 331786 h 6858000"/>
              <a:gd name="connsiteX7" fmla="*/ 1155717 w 7529613"/>
              <a:gd name="connsiteY7" fmla="*/ 0 h 6858000"/>
              <a:gd name="connsiteX8" fmla="*/ 1098249 w 7529613"/>
              <a:gd name="connsiteY8" fmla="*/ 0 h 6858000"/>
              <a:gd name="connsiteX9" fmla="*/ 991458 w 7529613"/>
              <a:gd name="connsiteY9" fmla="*/ 196614 h 6858000"/>
              <a:gd name="connsiteX10" fmla="*/ 493941 w 7529613"/>
              <a:gd name="connsiteY10" fmla="*/ 1371196 h 6858000"/>
              <a:gd name="connsiteX11" fmla="*/ 46485 w 7529613"/>
              <a:gd name="connsiteY11" fmla="*/ 3331516 h 6858000"/>
              <a:gd name="connsiteX12" fmla="*/ 12252 w 7529613"/>
              <a:gd name="connsiteY12" fmla="*/ 4357388 h 6858000"/>
              <a:gd name="connsiteX13" fmla="*/ 170821 w 7529613"/>
              <a:gd name="connsiteY13" fmla="*/ 5552906 h 6858000"/>
              <a:gd name="connsiteX14" fmla="*/ 537265 w 7529613"/>
              <a:gd name="connsiteY14" fmla="*/ 6828295 h 6858000"/>
              <a:gd name="connsiteX15" fmla="*/ 549692 w 7529613"/>
              <a:gd name="connsiteY15" fmla="*/ 6858000 h 6858000"/>
              <a:gd name="connsiteX16" fmla="*/ 602234 w 7529613"/>
              <a:gd name="connsiteY16" fmla="*/ 6858000 h 6858000"/>
              <a:gd name="connsiteX17" fmla="*/ 595414 w 7529613"/>
              <a:gd name="connsiteY17" fmla="*/ 6841549 h 6858000"/>
              <a:gd name="connsiteX18" fmla="*/ 364260 w 7529613"/>
              <a:gd name="connsiteY18" fmla="*/ 6142729 h 6858000"/>
              <a:gd name="connsiteX19" fmla="*/ 213071 w 7529613"/>
              <a:gd name="connsiteY19" fmla="*/ 5513923 h 6858000"/>
              <a:gd name="connsiteX20" fmla="*/ 211290 w 7529613"/>
              <a:gd name="connsiteY20" fmla="*/ 5480401 h 6858000"/>
              <a:gd name="connsiteX21" fmla="*/ 311446 w 7529613"/>
              <a:gd name="connsiteY21" fmla="*/ 5830359 h 6858000"/>
              <a:gd name="connsiteX22" fmla="*/ 622963 w 7529613"/>
              <a:gd name="connsiteY22" fmla="*/ 6670527 h 6858000"/>
              <a:gd name="connsiteX23" fmla="*/ 710464 w 7529613"/>
              <a:gd name="connsiteY23" fmla="*/ 6858000 h 6858000"/>
              <a:gd name="connsiteX24" fmla="*/ 7529613 w 7529613"/>
              <a:gd name="connsiteY2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7529613" h="6858000">
                <a:moveTo>
                  <a:pt x="7529613" y="0"/>
                </a:moveTo>
                <a:lnTo>
                  <a:pt x="1222331" y="0"/>
                </a:lnTo>
                <a:lnTo>
                  <a:pt x="1126483" y="148742"/>
                </a:lnTo>
                <a:cubicBezTo>
                  <a:pt x="995323" y="365513"/>
                  <a:pt x="876174" y="589569"/>
                  <a:pt x="767554" y="819975"/>
                </a:cubicBezTo>
                <a:cubicBezTo>
                  <a:pt x="762210" y="833492"/>
                  <a:pt x="753441" y="845393"/>
                  <a:pt x="742103" y="854514"/>
                </a:cubicBezTo>
                <a:cubicBezTo>
                  <a:pt x="756737" y="819849"/>
                  <a:pt x="770991" y="784928"/>
                  <a:pt x="785881" y="750263"/>
                </a:cubicBezTo>
                <a:cubicBezTo>
                  <a:pt x="846713" y="608712"/>
                  <a:pt x="910948" y="469145"/>
                  <a:pt x="978978" y="331786"/>
                </a:cubicBezTo>
                <a:lnTo>
                  <a:pt x="1155717" y="0"/>
                </a:lnTo>
                <a:lnTo>
                  <a:pt x="1098249" y="0"/>
                </a:lnTo>
                <a:lnTo>
                  <a:pt x="991458" y="196614"/>
                </a:lnTo>
                <a:cubicBezTo>
                  <a:pt x="797017" y="573253"/>
                  <a:pt x="633548" y="966066"/>
                  <a:pt x="493941" y="1371196"/>
                </a:cubicBezTo>
                <a:cubicBezTo>
                  <a:pt x="276630" y="2007265"/>
                  <a:pt x="126659" y="2664286"/>
                  <a:pt x="46485" y="3331516"/>
                </a:cubicBezTo>
                <a:cubicBezTo>
                  <a:pt x="4488" y="3672965"/>
                  <a:pt x="-14219" y="4013908"/>
                  <a:pt x="12252" y="4357388"/>
                </a:cubicBezTo>
                <a:cubicBezTo>
                  <a:pt x="43558" y="4758899"/>
                  <a:pt x="90773" y="5157998"/>
                  <a:pt x="170821" y="5552906"/>
                </a:cubicBezTo>
                <a:cubicBezTo>
                  <a:pt x="259109" y="5988893"/>
                  <a:pt x="378967" y="6414594"/>
                  <a:pt x="537265" y="6828295"/>
                </a:cubicBezTo>
                <a:lnTo>
                  <a:pt x="549692" y="6858000"/>
                </a:lnTo>
                <a:lnTo>
                  <a:pt x="602234" y="6858000"/>
                </a:lnTo>
                <a:lnTo>
                  <a:pt x="595414" y="6841549"/>
                </a:lnTo>
                <a:cubicBezTo>
                  <a:pt x="507884" y="6614016"/>
                  <a:pt x="431296" y="6380817"/>
                  <a:pt x="364260" y="6142729"/>
                </a:cubicBezTo>
                <a:cubicBezTo>
                  <a:pt x="305974" y="5935370"/>
                  <a:pt x="262958" y="5723695"/>
                  <a:pt x="213071" y="5513923"/>
                </a:cubicBezTo>
                <a:cubicBezTo>
                  <a:pt x="211892" y="5502788"/>
                  <a:pt x="211299" y="5491601"/>
                  <a:pt x="211290" y="5480401"/>
                </a:cubicBezTo>
                <a:cubicBezTo>
                  <a:pt x="247814" y="5607635"/>
                  <a:pt x="276958" y="5719759"/>
                  <a:pt x="311446" y="5830359"/>
                </a:cubicBezTo>
                <a:cubicBezTo>
                  <a:pt x="401357" y="6118381"/>
                  <a:pt x="505060" y="6398531"/>
                  <a:pt x="622963" y="6670527"/>
                </a:cubicBezTo>
                <a:lnTo>
                  <a:pt x="710464" y="6858000"/>
                </a:lnTo>
                <a:lnTo>
                  <a:pt x="7529613" y="6858000"/>
                </a:ln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prstClr val="black"/>
              </a:solidFill>
              <a:latin typeface="Trebuchet M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508C7-13E0-A23E-0EE3-436873618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6546" y="1429153"/>
            <a:ext cx="4237012" cy="2399897"/>
          </a:xfrm>
        </p:spPr>
        <p:txBody>
          <a:bodyPr vert="horz" lIns="68580" tIns="34290" rIns="68580" bIns="34290" rtlCol="0" anchor="b">
            <a:normAutofit/>
          </a:bodyPr>
          <a:lstStyle/>
          <a:p>
            <a:pPr defTabSz="685800">
              <a:lnSpc>
                <a:spcPct val="90000"/>
              </a:lnSpc>
            </a:pPr>
            <a:r>
              <a:rPr lang="en-US" sz="4950">
                <a:solidFill>
                  <a:srgbClr val="FFFFFF"/>
                </a:solidFill>
                <a:latin typeface="Calibri"/>
                <a:ea typeface="Verdana"/>
                <a:cs typeface="Calibri"/>
              </a:rPr>
              <a:t>Q&amp;A</a:t>
            </a:r>
            <a:br>
              <a:rPr lang="en-US" sz="4950">
                <a:latin typeface="Calibri"/>
              </a:rPr>
            </a:br>
            <a:r>
              <a:rPr lang="en-US" sz="4950">
                <a:solidFill>
                  <a:srgbClr val="FFFFFF"/>
                </a:solidFill>
                <a:latin typeface="Calibri"/>
                <a:ea typeface="Verdana"/>
                <a:cs typeface="Calibri"/>
              </a:rPr>
              <a:t>Thanks for listening</a:t>
            </a:r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8262" y="3889727"/>
            <a:ext cx="3977640" cy="13716"/>
          </a:xfrm>
          <a:custGeom>
            <a:avLst/>
            <a:gdLst>
              <a:gd name="connsiteX0" fmla="*/ 0 w 3977640"/>
              <a:gd name="connsiteY0" fmla="*/ 0 h 13716"/>
              <a:gd name="connsiteX1" fmla="*/ 742493 w 3977640"/>
              <a:gd name="connsiteY1" fmla="*/ 0 h 13716"/>
              <a:gd name="connsiteX2" fmla="*/ 1445209 w 3977640"/>
              <a:gd name="connsiteY2" fmla="*/ 0 h 13716"/>
              <a:gd name="connsiteX3" fmla="*/ 2147926 w 3977640"/>
              <a:gd name="connsiteY3" fmla="*/ 0 h 13716"/>
              <a:gd name="connsiteX4" fmla="*/ 2691536 w 3977640"/>
              <a:gd name="connsiteY4" fmla="*/ 0 h 13716"/>
              <a:gd name="connsiteX5" fmla="*/ 3274924 w 3977640"/>
              <a:gd name="connsiteY5" fmla="*/ 0 h 13716"/>
              <a:gd name="connsiteX6" fmla="*/ 3977640 w 3977640"/>
              <a:gd name="connsiteY6" fmla="*/ 0 h 13716"/>
              <a:gd name="connsiteX7" fmla="*/ 3977640 w 3977640"/>
              <a:gd name="connsiteY7" fmla="*/ 13716 h 13716"/>
              <a:gd name="connsiteX8" fmla="*/ 3314700 w 3977640"/>
              <a:gd name="connsiteY8" fmla="*/ 13716 h 13716"/>
              <a:gd name="connsiteX9" fmla="*/ 2771089 w 3977640"/>
              <a:gd name="connsiteY9" fmla="*/ 13716 h 13716"/>
              <a:gd name="connsiteX10" fmla="*/ 2227478 w 3977640"/>
              <a:gd name="connsiteY10" fmla="*/ 13716 h 13716"/>
              <a:gd name="connsiteX11" fmla="*/ 1524762 w 3977640"/>
              <a:gd name="connsiteY11" fmla="*/ 13716 h 13716"/>
              <a:gd name="connsiteX12" fmla="*/ 941375 w 3977640"/>
              <a:gd name="connsiteY12" fmla="*/ 13716 h 13716"/>
              <a:gd name="connsiteX13" fmla="*/ 0 w 3977640"/>
              <a:gd name="connsiteY13" fmla="*/ 13716 h 13716"/>
              <a:gd name="connsiteX14" fmla="*/ 0 w 3977640"/>
              <a:gd name="connsiteY14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3977640" h="13716" fill="none" extrusionOk="0">
                <a:moveTo>
                  <a:pt x="0" y="0"/>
                </a:moveTo>
                <a:cubicBezTo>
                  <a:pt x="362724" y="-2785"/>
                  <a:pt x="438784" y="-35866"/>
                  <a:pt x="742493" y="0"/>
                </a:cubicBezTo>
                <a:cubicBezTo>
                  <a:pt x="1046202" y="35866"/>
                  <a:pt x="1214361" y="6330"/>
                  <a:pt x="1445209" y="0"/>
                </a:cubicBezTo>
                <a:cubicBezTo>
                  <a:pt x="1676057" y="-6330"/>
                  <a:pt x="1906372" y="-3266"/>
                  <a:pt x="2147926" y="0"/>
                </a:cubicBezTo>
                <a:cubicBezTo>
                  <a:pt x="2389480" y="3266"/>
                  <a:pt x="2520714" y="16824"/>
                  <a:pt x="2691536" y="0"/>
                </a:cubicBezTo>
                <a:cubicBezTo>
                  <a:pt x="2862358" y="-16824"/>
                  <a:pt x="3036508" y="-14038"/>
                  <a:pt x="3274924" y="0"/>
                </a:cubicBezTo>
                <a:cubicBezTo>
                  <a:pt x="3513340" y="14038"/>
                  <a:pt x="3634141" y="-18809"/>
                  <a:pt x="3977640" y="0"/>
                </a:cubicBezTo>
                <a:cubicBezTo>
                  <a:pt x="3977368" y="4708"/>
                  <a:pt x="3977977" y="7132"/>
                  <a:pt x="3977640" y="13716"/>
                </a:cubicBezTo>
                <a:cubicBezTo>
                  <a:pt x="3757007" y="27457"/>
                  <a:pt x="3469003" y="-9684"/>
                  <a:pt x="3314700" y="13716"/>
                </a:cubicBezTo>
                <a:cubicBezTo>
                  <a:pt x="3160397" y="37116"/>
                  <a:pt x="2914663" y="14940"/>
                  <a:pt x="2771089" y="13716"/>
                </a:cubicBezTo>
                <a:cubicBezTo>
                  <a:pt x="2627515" y="12492"/>
                  <a:pt x="2417576" y="37462"/>
                  <a:pt x="2227478" y="13716"/>
                </a:cubicBezTo>
                <a:cubicBezTo>
                  <a:pt x="2037380" y="-10030"/>
                  <a:pt x="1775246" y="-6604"/>
                  <a:pt x="1524762" y="13716"/>
                </a:cubicBezTo>
                <a:cubicBezTo>
                  <a:pt x="1274278" y="34036"/>
                  <a:pt x="1225405" y="42368"/>
                  <a:pt x="941375" y="13716"/>
                </a:cubicBezTo>
                <a:cubicBezTo>
                  <a:pt x="657345" y="-14936"/>
                  <a:pt x="468340" y="53279"/>
                  <a:pt x="0" y="13716"/>
                </a:cubicBezTo>
                <a:cubicBezTo>
                  <a:pt x="-460" y="10837"/>
                  <a:pt x="38" y="6680"/>
                  <a:pt x="0" y="0"/>
                </a:cubicBezTo>
                <a:close/>
              </a:path>
              <a:path w="3977640" h="13716" stroke="0" extrusionOk="0">
                <a:moveTo>
                  <a:pt x="0" y="0"/>
                </a:moveTo>
                <a:cubicBezTo>
                  <a:pt x="167643" y="7540"/>
                  <a:pt x="416663" y="12011"/>
                  <a:pt x="623164" y="0"/>
                </a:cubicBezTo>
                <a:cubicBezTo>
                  <a:pt x="829665" y="-12011"/>
                  <a:pt x="908844" y="7531"/>
                  <a:pt x="1166774" y="0"/>
                </a:cubicBezTo>
                <a:cubicBezTo>
                  <a:pt x="1424704" y="-7531"/>
                  <a:pt x="1745729" y="22552"/>
                  <a:pt x="1909267" y="0"/>
                </a:cubicBezTo>
                <a:cubicBezTo>
                  <a:pt x="2072805" y="-22552"/>
                  <a:pt x="2313264" y="2550"/>
                  <a:pt x="2532431" y="0"/>
                </a:cubicBezTo>
                <a:cubicBezTo>
                  <a:pt x="2751598" y="-2550"/>
                  <a:pt x="2914229" y="-1772"/>
                  <a:pt x="3155594" y="0"/>
                </a:cubicBezTo>
                <a:cubicBezTo>
                  <a:pt x="3396959" y="1772"/>
                  <a:pt x="3603015" y="-38331"/>
                  <a:pt x="3977640" y="0"/>
                </a:cubicBezTo>
                <a:cubicBezTo>
                  <a:pt x="3976970" y="3019"/>
                  <a:pt x="3977124" y="10425"/>
                  <a:pt x="3977640" y="13716"/>
                </a:cubicBezTo>
                <a:cubicBezTo>
                  <a:pt x="3733612" y="39454"/>
                  <a:pt x="3504694" y="30132"/>
                  <a:pt x="3314700" y="13716"/>
                </a:cubicBezTo>
                <a:cubicBezTo>
                  <a:pt x="3124706" y="-2700"/>
                  <a:pt x="2970848" y="36656"/>
                  <a:pt x="2771089" y="13716"/>
                </a:cubicBezTo>
                <a:cubicBezTo>
                  <a:pt x="2571330" y="-9224"/>
                  <a:pt x="2374617" y="28009"/>
                  <a:pt x="2108149" y="13716"/>
                </a:cubicBezTo>
                <a:cubicBezTo>
                  <a:pt x="1841681" y="-577"/>
                  <a:pt x="1730147" y="-11759"/>
                  <a:pt x="1445209" y="13716"/>
                </a:cubicBezTo>
                <a:cubicBezTo>
                  <a:pt x="1160271" y="39191"/>
                  <a:pt x="1128446" y="26409"/>
                  <a:pt x="822046" y="13716"/>
                </a:cubicBezTo>
                <a:cubicBezTo>
                  <a:pt x="515646" y="1023"/>
                  <a:pt x="401539" y="43636"/>
                  <a:pt x="0" y="13716"/>
                </a:cubicBezTo>
                <a:cubicBezTo>
                  <a:pt x="-114" y="7033"/>
                  <a:pt x="103" y="3429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eaLnBrk="1" fontAlgn="auto" hangingPunct="1">
              <a:spcBef>
                <a:spcPts val="0"/>
              </a:spcBef>
              <a:spcAft>
                <a:spcPts val="0"/>
              </a:spcAft>
            </a:pPr>
            <a:endParaRPr lang="en-US" sz="1350">
              <a:solidFill>
                <a:prstClr val="white"/>
              </a:solidFill>
              <a:latin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532457840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2220</TotalTime>
  <Words>1143</Words>
  <Application>Microsoft Office PowerPoint</Application>
  <PresentationFormat>On-screen Show (4:3)</PresentationFormat>
  <Paragraphs>179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Arial</vt:lpstr>
      <vt:lpstr>Calibri</vt:lpstr>
      <vt:lpstr>Tahoma</vt:lpstr>
      <vt:lpstr>Trebuchet MS</vt:lpstr>
      <vt:lpstr>Wingdings</vt:lpstr>
      <vt:lpstr>Wingdings 3</vt:lpstr>
      <vt:lpstr>Blends</vt:lpstr>
      <vt:lpstr>1_Facet</vt:lpstr>
      <vt:lpstr> COMP 311: Software Testing and Quality Assurance  GitHub + CircleCI   Presentation for Test tools assignment by Che Shing Winson Li Yik Hong To Ho Ting Edmund Tsoi</vt:lpstr>
      <vt:lpstr>What is GitHub + CircleCI?</vt:lpstr>
      <vt:lpstr>How to Acquire GitHub + CircleCI</vt:lpstr>
      <vt:lpstr>How GitHub + CircleCI work</vt:lpstr>
      <vt:lpstr>Integration and Workflow</vt:lpstr>
      <vt:lpstr>Installation and overview of use (1)</vt:lpstr>
      <vt:lpstr>Installation and overview of use (2)</vt:lpstr>
      <vt:lpstr>Demonstration – GitHub Setup</vt:lpstr>
      <vt:lpstr>Demonstration – Python Script</vt:lpstr>
      <vt:lpstr>Demonstration – Test File</vt:lpstr>
      <vt:lpstr>Demonstration – Config.yml</vt:lpstr>
      <vt:lpstr>Demonstration – GitHub Branch</vt:lpstr>
      <vt:lpstr>Demonstration – Project Setup</vt:lpstr>
      <vt:lpstr>Demonstration – Pipeline Setup</vt:lpstr>
      <vt:lpstr>Demonstration – Pipeline Page</vt:lpstr>
      <vt:lpstr>Demonstration – Build Page</vt:lpstr>
      <vt:lpstr>Demonstration – Error Message</vt:lpstr>
      <vt:lpstr>Demonstration – report.html (1)</vt:lpstr>
      <vt:lpstr>Demonstration – report.html (2)</vt:lpstr>
      <vt:lpstr>Live Demo – Test File Change</vt:lpstr>
      <vt:lpstr>Real-World Examples</vt:lpstr>
      <vt:lpstr>Advanced Features</vt:lpstr>
      <vt:lpstr>Comparison with Similar Tools</vt:lpstr>
      <vt:lpstr>Q&amp;A Thanks for listening</vt:lpstr>
    </vt:vector>
  </TitlesOfParts>
  <Company>PSI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Voldner</dc:creator>
  <cp:lastModifiedBy>Y T</cp:lastModifiedBy>
  <cp:revision>796</cp:revision>
  <dcterms:created xsi:type="dcterms:W3CDTF">2009-01-07T15:13:31Z</dcterms:created>
  <dcterms:modified xsi:type="dcterms:W3CDTF">2024-11-22T03:04:52Z</dcterms:modified>
</cp:coreProperties>
</file>